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7B1113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u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607" y="685800"/>
            <a:ext cx="1554480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377440"/>
            <a:ext cx="11277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E4C97C"/>
                </a:solidFill>
                <a:latin typeface="Poppins"/>
              </a:rPr>
              <a:t>EXPLOITS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AF6EC"/>
                </a:solidFill>
                <a:latin typeface="Open Sans"/>
              </a:rPr>
              <a:t>BSc INFORMATION COMMUNICATION AND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C9A227"/>
                </a:solidFill>
                <a:latin typeface="Poppins"/>
              </a:rPr>
              <a:t>BICT 3202 · OBJECT-ORIENTED ANALYSIS AND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Poppins"/>
              </a:rPr>
              <a:t>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92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FAF6EC"/>
                </a:solidFill>
                <a:latin typeface="Poppins"/>
              </a:rPr>
              <a:t>Business Needs, Software Needs and Object Technology for Business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Francis Fweta  ·  ICT Lecturer  ·  Week 1 of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By the end of this week, you should be able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 · Slide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Define a business need </a:t>
            </a:r>
            <a:r>
              <a:rPr sz="1700">
                <a:solidFill>
                  <a:srgbClr val="2B2626"/>
                </a:solidFill>
                <a:latin typeface="Open Sans"/>
              </a:rPr>
              <a:t>and explain why organisations build or acquire software.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Distinguish </a:t>
            </a:r>
            <a:r>
              <a:rPr sz="1700">
                <a:solidFill>
                  <a:srgbClr val="2B2626"/>
                </a:solidFill>
                <a:latin typeface="Open Sans"/>
              </a:rPr>
              <a:t>business problem · business need · requirement · software solution.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Identify stakeholders </a:t>
            </a:r>
            <a:r>
              <a:rPr sz="1700">
                <a:solidFill>
                  <a:srgbClr val="2B2626"/>
                </a:solidFill>
                <a:latin typeface="Open Sans"/>
              </a:rPr>
              <a:t>and explain functional vs non-functional software needs.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Relate business objectives </a:t>
            </a:r>
            <a:r>
              <a:rPr sz="1700">
                <a:solidFill>
                  <a:srgbClr val="2B2626"/>
                </a:solidFill>
                <a:latin typeface="Open Sans"/>
              </a:rPr>
              <a:t>to software requirements through the business-to-software chain.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Describe object technology </a:t>
            </a:r>
            <a:r>
              <a:rPr sz="1700">
                <a:solidFill>
                  <a:srgbClr val="2B2626"/>
                </a:solidFill>
                <a:latin typeface="Open Sans"/>
              </a:rPr>
              <a:t>and explain what an object is.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700">
                <a:solidFill>
                  <a:srgbClr val="2B2626"/>
                </a:solidFill>
                <a:latin typeface="Open Sans"/>
              </a:rPr>
              <a:t>identity, state and behaviour — and why real-world entities help in analysis.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Discuss strengths &amp; limitations </a:t>
            </a:r>
            <a:r>
              <a:rPr sz="1700">
                <a:solidFill>
                  <a:srgbClr val="2B2626"/>
                </a:solidFill>
                <a:latin typeface="Open Sans"/>
              </a:rPr>
              <a:t>of object-oriented approaches.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Apply the concepts </a:t>
            </a:r>
            <a:r>
              <a:rPr sz="1700">
                <a:solidFill>
                  <a:srgbClr val="2B2626"/>
                </a:solidFill>
                <a:latin typeface="Open Sans"/>
              </a:rPr>
              <a:t>to a real-world business case (e.g. registration, ATM, library).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Requirements come first — not the class diagram.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Why Do We Need OOAD?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story of a developer who started coding too early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 · Slide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>
                <a:solidFill>
                  <a:srgbClr val="2B2626"/>
                </a:solidFill>
                <a:latin typeface="Open Sans"/>
              </a:rPr>
              <a:t>University: “We need a new student management system.”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>
                <a:solidFill>
                  <a:srgbClr val="2B2626"/>
                </a:solidFill>
                <a:latin typeface="Open Sans"/>
              </a:rPr>
              <a:t>Developer builds login, tables, payments, exams, dashboard.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>
                <a:solidFill>
                  <a:srgbClr val="2B2626"/>
                </a:solidFill>
                <a:latin typeface="Open Sans"/>
              </a:rPr>
              <a:t>Six months later: “This isn't what we asked for.”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The real problem? </a:t>
            </a:r>
            <a:r>
              <a:rPr sz="1500">
                <a:solidFill>
                  <a:srgbClr val="2B2626"/>
                </a:solidFill>
                <a:latin typeface="Open Sans"/>
              </a:rPr>
              <a:t>insufficient analysis of business needs before design.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OOAD exists </a:t>
            </a:r>
            <a:r>
              <a:rPr sz="1500">
                <a:solidFill>
                  <a:srgbClr val="2B2626"/>
                </a:solidFill>
                <a:latin typeface="Open Sans"/>
              </a:rPr>
              <a:t>to prevent exactly this failure.</a:t>
            </a:r>
          </a:p>
        </p:txBody>
      </p:sp>
      <p:pic>
        <p:nvPicPr>
          <p:cNvPr id="10" name="Picture 9" descr="chart_failure_reas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852160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Analysis first — programming second.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Business-to-Software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Eight steps from a goal to working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 · Slide 3</a:t>
            </a:r>
          </a:p>
        </p:txBody>
      </p:sp>
      <p:pic>
        <p:nvPicPr>
          <p:cNvPr id="9" name="Picture 8" descr="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17320"/>
            <a:ext cx="9692640" cy="461554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This chain is the backbone of the entire 16-week module.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Problem → Need →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Three ideas that must never be confused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 · Slide 4</a:t>
            </a:r>
          </a:p>
        </p:txBody>
      </p:sp>
      <p:pic>
        <p:nvPicPr>
          <p:cNvPr id="9" name="Picture 8" descr="problem_need_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087" y="1463040"/>
            <a:ext cx="9875520" cy="423236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Problem = what is wrong · Need = what must improve · Solution = how we improve 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Business Objectives &amp; the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Objectives drive needs, which drive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 · Slide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Business objective: </a:t>
            </a:r>
            <a:r>
              <a:rPr sz="1600">
                <a:solidFill>
                  <a:srgbClr val="2B2626"/>
                </a:solidFill>
                <a:latin typeface="Open Sans"/>
              </a:rPr>
              <a:t>a specific result the organisation wants (e.g. cut account-opening from 45 to 10 minutes).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Business need: </a:t>
            </a:r>
            <a:r>
              <a:rPr sz="1600">
                <a:solidFill>
                  <a:srgbClr val="2B2626"/>
                </a:solidFill>
                <a:latin typeface="Open Sans"/>
              </a:rPr>
              <a:t>what must improve to reach the objective.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Not every problem </a:t>
            </a:r>
            <a:r>
              <a:rPr sz="1600">
                <a:solidFill>
                  <a:srgbClr val="2B2626"/>
                </a:solidFill>
                <a:latin typeface="Open Sans"/>
              </a:rPr>
              <a:t>is a software problem — investigate first.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Constraints &amp; business rules </a:t>
            </a:r>
            <a:r>
              <a:rPr sz="1600">
                <a:solidFill>
                  <a:srgbClr val="2B2626"/>
                </a:solidFill>
                <a:latin typeface="Open Sans"/>
              </a:rPr>
              <a:t>shape the eventual solution.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4173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Business Objective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Business Problem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Business Need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Stakeholder Needs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Software Requirements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Analysis Models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Design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Implementation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Objective → Problem → Need → Requirements → Models → Design → Implementation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Stakeholders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Who has an interest in, or is affected by, the system?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 · Slide 6</a:t>
            </a:r>
          </a:p>
        </p:txBody>
      </p:sp>
      <p:pic>
        <p:nvPicPr>
          <p:cNvPr id="9" name="Picture 8" descr="stakehol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463040"/>
            <a:ext cx="9144000" cy="511628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Ignore a stakeholder and you miss their requirements.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Aspects of Business Software Needs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 complete need has four parts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 · Slide 7</a:t>
            </a:r>
          </a:p>
        </p:txBody>
      </p:sp>
      <p:pic>
        <p:nvPicPr>
          <p:cNvPr id="9" name="Picture 8" descr="aspect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554480"/>
            <a:ext cx="10058400" cy="395151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Functional · Non-functional · Business rules · Constraints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Functional vs Non-Functional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What it does vs how well it does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 · Slide 8</a:t>
            </a:r>
          </a:p>
        </p:txBody>
      </p:sp>
      <p:pic>
        <p:nvPicPr>
          <p:cNvPr id="9" name="Picture 8" descr="functional_nonfunct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1371600"/>
            <a:ext cx="9326880" cy="510757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Functional = behaviour · Non-functional = quality &amp; constraints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Business Rules &amp;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Policies the software must enforce, and limits on 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 · Slide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Business rule — </a:t>
            </a:r>
            <a:r>
              <a:rPr sz="1600">
                <a:solidFill>
                  <a:srgbClr val="2B2626"/>
                </a:solidFill>
                <a:latin typeface="Open Sans"/>
              </a:rPr>
              <a:t>a policy or condition governing the organisation.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“Pass BICT 2101 before registering for BICT 3202.”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“Withdraw at most MWK 500,000 per day.”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“An employee cannot approve their own claim.”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The functional requirement </a:t>
            </a:r>
            <a:r>
              <a:rPr sz="1600">
                <a:solidFill>
                  <a:srgbClr val="2B2626"/>
                </a:solidFill>
                <a:latin typeface="Open Sans"/>
              </a:rPr>
              <a:t>tells the software how to enforce the rule.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4173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Constraints </a:t>
            </a:r>
            <a:r>
              <a:rPr sz="1600">
                <a:solidFill>
                  <a:srgbClr val="2B2626"/>
                </a:solidFill>
                <a:latin typeface="Open Sans"/>
              </a:rPr>
              <a:t>restrict the solution: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Available budget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Existing hardware &amp; database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Legal &amp; organisational policy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Required platform &amp; deployment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Internet availability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Rules come from the organisation — the software enforces them.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Requirements Elicitation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How the analyst discovers stakeholder needs (ISO/IEC/IEEE 29148)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 · Slide 10</a:t>
            </a:r>
          </a:p>
        </p:txBody>
      </p:sp>
      <p:pic>
        <p:nvPicPr>
          <p:cNvPr id="9" name="Picture 8" descr="elici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087" y="1508760"/>
            <a:ext cx="9875520" cy="446749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Interviews · Questionnaires · Observation · Documents · Workshops · Prototyping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What Is an Object?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Identity · State · Behaviour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 · Slide 11</a:t>
            </a:r>
          </a:p>
        </p:txBody>
      </p:sp>
      <p:pic>
        <p:nvPicPr>
          <p:cNvPr id="9" name="Picture 8" descr="object_anat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1371600"/>
            <a:ext cx="9326880" cy="521861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State = data · Behaviour = methods · Identity = uniqueness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Class vs Object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blueprint and the things built from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 · Slide 12</a:t>
            </a:r>
          </a:p>
        </p:txBody>
      </p:sp>
      <p:pic>
        <p:nvPicPr>
          <p:cNvPr id="9" name="Picture 8" descr="class_vs_ob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1371600"/>
            <a:ext cx="9326880" cy="521861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Student is a class · Francis is an object of the Student class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Business Concepts Become Objects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bank's real-world entities modelled as classes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 · Slide 13</a:t>
            </a:r>
          </a:p>
        </p:txBody>
      </p:sp>
      <p:pic>
        <p:nvPicPr>
          <p:cNvPr id="9" name="Picture 8" descr="bank_ob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463040"/>
            <a:ext cx="9509760" cy="498130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Objects need not be physical — Registration, Payment and Order are objects too.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Encapsulation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Protect data behind controlled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 · Slide 14</a:t>
            </a:r>
          </a:p>
        </p:txBody>
      </p:sp>
      <p:pic>
        <p:nvPicPr>
          <p:cNvPr id="9" name="Picture 8" descr="encaps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508760"/>
            <a:ext cx="9692640" cy="438476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Never let the whole app write balance = -500000 directly.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Inheritance &amp; Polymorphism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Reuse common behaviour · respond differently to the same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 · Slide 15</a:t>
            </a:r>
          </a:p>
        </p:txBody>
      </p:sp>
      <p:pic>
        <p:nvPicPr>
          <p:cNvPr id="9" name="Picture 8" descr="inheri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5394960" cy="2119449"/>
          </a:xfrm>
          <a:prstGeom prst="rect">
            <a:avLst/>
          </a:prstGeom>
        </p:spPr>
      </p:pic>
      <p:pic>
        <p:nvPicPr>
          <p:cNvPr id="10" name="Picture 9" descr="polymorphi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554480"/>
            <a:ext cx="5577840" cy="245690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User → Student / Lecturer · displayDashboard() behaves differently per object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Four OO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ideas you will meet again and again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 · Slide 16</a:t>
            </a:r>
          </a:p>
        </p:txBody>
      </p:sp>
      <p:pic>
        <p:nvPicPr>
          <p:cNvPr id="9" name="Picture 8" descr="four_princi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463040"/>
            <a:ext cx="9509760" cy="486809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Abstraction · Encapsulation · Inheritance · Polymorphism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Strengths &amp;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Object orientation is powerful — but it is not magic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 · Slide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Strengths: </a:t>
            </a:r>
            <a:r>
              <a:rPr sz="1500">
                <a:solidFill>
                  <a:srgbClr val="2B2626"/>
                </a:solidFill>
                <a:latin typeface="Open Sans"/>
              </a:rPr>
              <a:t/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>
                <a:solidFill>
                  <a:srgbClr val="2B2626"/>
                </a:solidFill>
                <a:latin typeface="Open Sans"/>
              </a:rPr>
              <a:t>Modularity — systems divided into components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>
                <a:solidFill>
                  <a:srgbClr val="2B2626"/>
                </a:solidFill>
                <a:latin typeface="Open Sans"/>
              </a:rPr>
              <a:t>Reusability — components and classes reused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>
                <a:solidFill>
                  <a:srgbClr val="2B2626"/>
                </a:solidFill>
                <a:latin typeface="Open Sans"/>
              </a:rPr>
              <a:t>Maintainability — changes isolated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>
                <a:solidFill>
                  <a:srgbClr val="2B2626"/>
                </a:solidFill>
                <a:latin typeface="Open Sans"/>
              </a:rPr>
              <a:t>Encapsulation — details hidden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>
                <a:solidFill>
                  <a:srgbClr val="2B2626"/>
                </a:solidFill>
                <a:latin typeface="Open Sans"/>
              </a:rPr>
              <a:t>Extensibility — easy to grow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>
                <a:solidFill>
                  <a:srgbClr val="2B2626"/>
                </a:solidFill>
                <a:latin typeface="Open Sans"/>
              </a:rPr>
              <a:t>Natural mapping of business concepts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4173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Limitations: </a:t>
            </a:r>
            <a:r>
              <a:rPr sz="1500">
                <a:solidFill>
                  <a:srgbClr val="2B2626"/>
                </a:solidFill>
                <a:latin typeface="Open Sans"/>
              </a:rPr>
              <a:t/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>
                <a:solidFill>
                  <a:srgbClr val="2B2626"/>
                </a:solidFill>
                <a:latin typeface="Open Sans"/>
              </a:rPr>
              <a:t>Complexity — thousands of classes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>
                <a:solidFill>
                  <a:srgbClr val="2B2626"/>
                </a:solidFill>
                <a:latin typeface="Open Sans"/>
              </a:rPr>
              <a:t>Learning curve — many concepts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>
                <a:solidFill>
                  <a:srgbClr val="2B2626"/>
                </a:solidFill>
                <a:latin typeface="Open Sans"/>
              </a:rPr>
              <a:t>Poor modelling adds complexity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>
                <a:solidFill>
                  <a:srgbClr val="2B2626"/>
                </a:solidFill>
                <a:latin typeface="Open Sans"/>
              </a:rPr>
              <a:t>Inheritance can be misused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>
                <a:solidFill>
                  <a:srgbClr val="2B2626"/>
                </a:solidFill>
                <a:latin typeface="Open Sans"/>
              </a:rPr>
              <a:t>Up-front modelling effort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OOA → OOD → OOP are three different stages — analysis is not coding.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Worked Example — the ATM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From a business problem to candidate objects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 · Slide 18</a:t>
            </a:r>
          </a:p>
        </p:txBody>
      </p:sp>
      <p:pic>
        <p:nvPicPr>
          <p:cNvPr id="9" name="Picture 8" descr="atm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600200"/>
            <a:ext cx="10058400" cy="359228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business problem → business need → requirements → objects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Practical &amp; Tutorial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Apply Week 1 to a manual library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 · Slide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Practical (individual): </a:t>
            </a:r>
            <a:r>
              <a:rPr sz="1600">
                <a:solidFill>
                  <a:srgbClr val="2B2626"/>
                </a:solidFill>
                <a:latin typeface="Open Sans"/>
              </a:rPr>
              <a:t>the college's manual library system.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List ≥ 5 business problems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List ≥ 3 business needs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List ≥ 6 stakeholders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List ≥ 8 functional requirements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List ≥ 5 non-functional requirements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List ≥ 8 candidate objects — justify 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4173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Tutorial (groups): </a:t>
            </a:r>
            <a:r>
              <a:rPr sz="1600">
                <a:solidFill>
                  <a:srgbClr val="2B2626"/>
                </a:solidFill>
                <a:latin typeface="Open Sans"/>
              </a:rPr>
              <a:t>pick one system —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Mobile money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Hospital management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Online shopping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Hotel booking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University registration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>
                <a:solidFill>
                  <a:srgbClr val="2B2626"/>
                </a:solidFill>
                <a:latin typeface="Open Sans"/>
              </a:rPr>
              <a:t>Produce: problem, need, objective, stakeholders, functional &amp; non-functional needs, rules, objects.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Present your group's findings to the class.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Week 1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definitions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 · Slide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Business need </a:t>
            </a:r>
            <a:r>
              <a:rPr sz="1600">
                <a:solidFill>
                  <a:srgbClr val="2B2626"/>
                </a:solidFill>
                <a:latin typeface="Open Sans"/>
              </a:rPr>
              <a:t>— a problem/opportunity/improvement the organisation must address.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Stakeholder </a:t>
            </a:r>
            <a:r>
              <a:rPr sz="1600">
                <a:solidFill>
                  <a:srgbClr val="2B2626"/>
                </a:solidFill>
                <a:latin typeface="Open Sans"/>
              </a:rPr>
              <a:t>— anyone interested in or affected by the system.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Functional requirement </a:t>
            </a:r>
            <a:r>
              <a:rPr sz="1600">
                <a:solidFill>
                  <a:srgbClr val="2B2626"/>
                </a:solidFill>
                <a:latin typeface="Open Sans"/>
              </a:rPr>
              <a:t>— what the system must do.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Non-functional requirement </a:t>
            </a:r>
            <a:r>
              <a:rPr sz="1600">
                <a:solidFill>
                  <a:srgbClr val="2B2626"/>
                </a:solidFill>
                <a:latin typeface="Open Sans"/>
              </a:rPr>
              <a:t>— quality and constraints.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Object </a:t>
            </a:r>
            <a:r>
              <a:rPr sz="1600">
                <a:solidFill>
                  <a:srgbClr val="2B2626"/>
                </a:solidFill>
                <a:latin typeface="Open Sans"/>
              </a:rPr>
              <a:t>— identity + state + behaviour.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Class </a:t>
            </a:r>
            <a:r>
              <a:rPr sz="1600">
                <a:solidFill>
                  <a:srgbClr val="2B2626"/>
                </a:solidFill>
                <a:latin typeface="Open Sans"/>
              </a:rPr>
              <a:t>— the blueprint; object — the instance.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Business objective → problem → need → requirements → models → design → implementation.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7B1113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C9A227"/>
                </a:solidFill>
                <a:latin typeface="Poppins"/>
              </a:rPr>
              <a:t>REVISION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FAF6EC"/>
                </a:solidFill>
                <a:latin typeface="Open Sans"/>
              </a:rPr>
              <a:t>Attempt the revision questions in the Week 1 module and the assignment.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FAF6EC"/>
                </a:solidFill>
                <a:latin typeface="Open Sans"/>
              </a:rPr>
              <a:t>Observe a system you use daily — write its problem, needs, stakeholders, requirements and objects.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FAF6EC"/>
                </a:solidFill>
                <a:latin typeface="Open Sans"/>
              </a:rPr>
              <a:t>Identify 10 real-world objects around you; list their state and behaviour.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FAF6EC"/>
                </a:solidFill>
                <a:latin typeface="Open Sans"/>
              </a:rPr>
              <a:t>Next week: we begin turning these ideas into formal analysis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Thank you — Francis Fweta · ICT Lecturer · Exploits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