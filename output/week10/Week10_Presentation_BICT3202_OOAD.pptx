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Object-Oriented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10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Define </a:t>
            </a:r>
            <a:r>
              <a:rPr sz="1600">
                <a:solidFill>
                  <a:srgbClr val="2B2626"/>
                </a:solidFill>
                <a:latin typeface="Open Sans"/>
              </a:rPr>
              <a:t>software design and object-oriented design.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Distinguish </a:t>
            </a:r>
            <a:r>
              <a:rPr sz="1600">
                <a:solidFill>
                  <a:srgbClr val="2B2626"/>
                </a:solidFill>
                <a:latin typeface="Open Sans"/>
              </a:rPr>
              <a:t>OO analysis from OO design, with examples.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why design is necessary and list the goals of good design.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responsibility, cohesion, coupling, abstraction, encapsulation.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high cohesion + low coupling, and why good design seeks both.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architecture, refinement, interfaces and traceability.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Combine </a:t>
            </a:r>
            <a:r>
              <a:rPr sz="1600">
                <a:solidFill>
                  <a:srgbClr val="2B2626"/>
                </a:solidFill>
                <a:latin typeface="Open Sans"/>
              </a:rPr>
              <a:t>the Object, Dynamic and Behavioural models into a design.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Analysis = what the system needs · Design = how the software is organised.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Where Week 10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most important transition in OOAD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</a:t>
            </a:r>
          </a:p>
        </p:txBody>
      </p:sp>
      <p:pic>
        <p:nvPicPr>
          <p:cNvPr id="9" name="Picture 8" descr="w10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Weeks 4–8 built the models; Week 10 turns them into a design.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Design: The House Analogy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requirement states the goal · design decides 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3</a:t>
            </a:r>
          </a:p>
        </p:txBody>
      </p:sp>
      <p:pic>
        <p:nvPicPr>
          <p:cNvPr id="9" name="Picture 8" descr="w10_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Software design decides how the parts are organised and work together.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Analysis vs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key distinction of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4</a:t>
            </a:r>
          </a:p>
        </p:txBody>
      </p:sp>
      <p:pic>
        <p:nvPicPr>
          <p:cNvPr id="9" name="Picture 8" descr="w10_analysis_vs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Analysis understands the problem · Design plans the software solution.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Analysis Model vs Design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analysis model is the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5</a:t>
            </a:r>
          </a:p>
        </p:txBody>
      </p:sp>
      <p:pic>
        <p:nvPicPr>
          <p:cNvPr id="9" name="Picture 8" descr="w10_analysis_desig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design model adds implementation detail: classes, interfaces, packages.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Why Not Just Start Coding?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student.java, three months later…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One 15,000-line file </a:t>
            </a:r>
            <a:r>
              <a:rPr sz="1700">
                <a:solidFill>
                  <a:srgbClr val="2B2626"/>
                </a:solidFill>
                <a:latin typeface="Open Sans"/>
              </a:rPr>
              <a:t>holds login, payments, registration, reports, database, email, SMS…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Change one feature </a:t>
            </a:r>
            <a:r>
              <a:rPr sz="1700">
                <a:solidFill>
                  <a:srgbClr val="2B2626"/>
                </a:solidFill>
                <a:latin typeface="Open Sans"/>
              </a:rPr>
              <a:t>and five others break.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Good design makes systems easier to </a:t>
            </a:r>
            <a:r>
              <a:rPr sz="1700">
                <a:solidFill>
                  <a:srgbClr val="2B2626"/>
                </a:solidFill>
                <a:latin typeface="Open Sans"/>
              </a:rPr>
              <a:t>understand, implement, test, maintain, modify, extend, reuse, debug, scale.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Design first — it is far cheaper than redesigning after coding.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makes a good object-oriented design?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7</a:t>
            </a:r>
          </a:p>
        </p:txBody>
      </p:sp>
      <p:pic>
        <p:nvPicPr>
          <p:cNvPr id="9" name="Picture 8" descr="w10_design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Correctness · maintainability · reusability · flexibility · understandability · testability · scalability · security.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Poor vs Good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 huge class vs focused responsibilities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8</a:t>
            </a:r>
          </a:p>
        </p:txBody>
      </p:sp>
      <p:pic>
        <p:nvPicPr>
          <p:cNvPr id="9" name="Picture 8" descr="w10_poor_vs_g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Good design spreads responsibilities across focused components.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an object knows · 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9</a:t>
            </a:r>
          </a:p>
        </p:txBody>
      </p:sp>
      <p:pic>
        <p:nvPicPr>
          <p:cNvPr id="9" name="Picture 8" descr="w10_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responsibility is something a class is responsible for knowing or doing.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Responsibility Assignment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Which object should do this?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To calculate total fees, who should do it?</a:t>
            </a:r>
            <a:r>
              <a:rPr sz="1700">
                <a:solidFill>
                  <a:srgbClr val="2B2626"/>
                </a:solidFill>
                <a:latin typeface="Open Sans"/>
              </a:rPr>
              <a:t/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Option 1: </a:t>
            </a:r>
            <a:r>
              <a:rPr sz="1700">
                <a:solidFill>
                  <a:srgbClr val="2B2626"/>
                </a:solidFill>
                <a:latin typeface="Open Sans"/>
              </a:rPr>
              <a:t>Student.calculateFees()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Option 2: </a:t>
            </a:r>
            <a:r>
              <a:rPr sz="1700">
                <a:solidFill>
                  <a:srgbClr val="2B2626"/>
                </a:solidFill>
                <a:latin typeface="Open Sans"/>
              </a:rPr>
              <a:t>FeeAccount.calculateTotal()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Option 3: </a:t>
            </a:r>
            <a:r>
              <a:rPr sz="1700">
                <a:solidFill>
                  <a:srgbClr val="2B2626"/>
                </a:solidFill>
                <a:latin typeface="Open Sans"/>
              </a:rPr>
              <a:t>PaymentService.calculateFees()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The designer chooses </a:t>
            </a:r>
            <a:r>
              <a:rPr sz="1700">
                <a:solidFill>
                  <a:srgbClr val="2B2626"/>
                </a:solidFill>
                <a:latin typeface="Open Sans"/>
              </a:rPr>
              <a:t>based on the responsibilities and relationships of the objects.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Central design question: “Which object should be responsible for this operation?”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Cohesion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How closely related are the responsibilities inside a class?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11</a:t>
            </a:r>
          </a:p>
        </p:txBody>
      </p:sp>
      <p:pic>
        <p:nvPicPr>
          <p:cNvPr id="9" name="Picture 8" descr="w10_coh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Ask: does everything inside this class belong together?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Coupling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How strongly does a class depend on other classes?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12</a:t>
            </a:r>
          </a:p>
        </p:txBody>
      </p:sp>
      <p:pic>
        <p:nvPicPr>
          <p:cNvPr id="9" name="Picture 8" descr="w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Depend on abstractions (interfaces), not on concrete implementations.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Cohesion vs Coupling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 looks inside · the other looks between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13</a:t>
            </a:r>
          </a:p>
        </p:txBody>
      </p:sp>
      <p:pic>
        <p:nvPicPr>
          <p:cNvPr id="9" name="Picture 8" descr="w10_cohesion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Good design = high cohesion + low coupling.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Abstraction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Focus on the important, hide the unnecessary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Using an ATM: </a:t>
            </a:r>
            <a:r>
              <a:rPr sz="1700">
                <a:solidFill>
                  <a:srgbClr val="2B2626"/>
                </a:solidFill>
                <a:latin typeface="Open Sans"/>
              </a:rPr>
              <a:t>insert card, enter PIN, select withdrawal, enter amount, receive money.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You don't need to know </a:t>
            </a:r>
            <a:r>
              <a:rPr sz="1700">
                <a:solidFill>
                  <a:srgbClr val="2B2626"/>
                </a:solidFill>
                <a:latin typeface="Open Sans"/>
              </a:rPr>
              <a:t>the database, encryption, communication or cash dispenser internals.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In design: </a:t>
            </a:r>
            <a:r>
              <a:rPr sz="1700">
                <a:solidFill>
                  <a:srgbClr val="2B2626"/>
                </a:solidFill>
                <a:latin typeface="Open Sans"/>
              </a:rPr>
              <a:t>call PaymentProcessor.processPayment() — the details are hidden.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Abstraction shows the interface and hides the complexity.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Encapsulation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Keep data and operations together; protect the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BankAccount </a:t>
            </a:r>
            <a:r>
              <a:rPr sz="1700">
                <a:solidFill>
                  <a:srgbClr val="2B2626"/>
                </a:solidFill>
                <a:latin typeface="Open Sans"/>
              </a:rPr>
              <a:t>has private balance with deposit(), withdraw(), getBalance().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Change state via </a:t>
            </a:r>
            <a:r>
              <a:rPr sz="1700">
                <a:solidFill>
                  <a:srgbClr val="2B2626"/>
                </a:solidFill>
                <a:latin typeface="Open Sans"/>
              </a:rPr>
              <a:t>account.deposit(500) — never account.balance = 500.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Result: </a:t>
            </a:r>
            <a:r>
              <a:rPr sz="1700">
                <a:solidFill>
                  <a:srgbClr val="2B2626"/>
                </a:solidFill>
                <a:latin typeface="Open Sans"/>
              </a:rPr>
              <a:t>the object's state is protected from outside interference.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Encapsulation protects the internal state and implementation.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Abstraction vs Encapsulation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the user sees · what the object hides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16</a:t>
            </a:r>
          </a:p>
        </p:txBody>
      </p:sp>
      <p:pic>
        <p:nvPicPr>
          <p:cNvPr id="9" name="Picture 8" descr="w10_abstraction_encap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Abstraction = hide complexity · Encapsulation = protect internal state.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Separation of Concerns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Different concerns handled by the appropriate part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17</a:t>
            </a:r>
          </a:p>
        </p:txBody>
      </p:sp>
      <p:pic>
        <p:nvPicPr>
          <p:cNvPr id="9" name="Picture 8" descr="w10_sepa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Presentation -&gt; Business Logic -&gt; Data Access -&gt; Database.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high-level organisation of a software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18</a:t>
            </a:r>
          </a:p>
        </p:txBody>
      </p:sp>
      <p:pic>
        <p:nvPicPr>
          <p:cNvPr id="9" name="Picture 8" descr="w1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Major components, layers, interfaces, dependencies and deployment decisions.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Progressively add detail: analysis -&gt; design -&gt;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19</a:t>
            </a:r>
          </a:p>
        </p:txBody>
      </p:sp>
      <p:pic>
        <p:nvPicPr>
          <p:cNvPr id="9" name="Picture 8" descr="w10_refin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Problem -&gt; analysis model -&gt; design model -&gt; implementation -&gt; running software.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Three OOAD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Structure · time/state · interaction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20</a:t>
            </a:r>
          </a:p>
        </p:txBody>
      </p:sp>
      <p:pic>
        <p:nvPicPr>
          <p:cNvPr id="9" name="Picture 8" descr="w10_thre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Object model = what exists · Dynamic model = what changes · Behavioural model = what happens.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Combining the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Case study: online course registration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21</a:t>
            </a:r>
          </a:p>
        </p:txBody>
      </p:sp>
      <p:pic>
        <p:nvPicPr>
          <p:cNvPr id="9" name="Picture 8" descr="w10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Requirement -&gt; use case -&gt; objects -&gt; models -&gt; sequence -&gt; design.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Model Consistency &amp; Traceability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models must agree — and be followable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Consistency: </a:t>
            </a:r>
            <a:r>
              <a:rPr sz="1600">
                <a:solidFill>
                  <a:srgbClr val="2B2626"/>
                </a:solidFill>
                <a:latin typeface="Open Sans"/>
              </a:rPr>
              <a:t>if the sequence diagram calls Course.checkPrerequisite(), the class model must define it.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Consistency: </a:t>
            </a:r>
            <a:r>
              <a:rPr sz="1600">
                <a:solidFill>
                  <a:srgbClr val="2B2626"/>
                </a:solidFill>
                <a:latin typeface="Open Sans"/>
              </a:rPr>
              <a:t>if the use case actor is Student, the sequence must not show Lecturer -&gt; registerCourse().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Traceability: </a:t>
            </a:r>
            <a:r>
              <a:rPr sz="1600">
                <a:solidFill>
                  <a:srgbClr val="2B2626"/>
                </a:solidFill>
                <a:latin typeface="Open Sans"/>
              </a:rPr>
              <a:t>requirement -&gt; use case -&gt; activity -&gt; sequence -&gt; class -&gt; code -&gt; test.</a:t>
            </a:r>
          </a:p>
        </p:txBody>
      </p:sp>
      <p:pic>
        <p:nvPicPr>
          <p:cNvPr id="10" name="Picture 9" descr="w10_trac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5120640"/>
            <a:ext cx="9692640" cy="49617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Traceability shows which models and code a change might affect.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Sequence, Design Classes &amp; Interfaces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Design-level 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Sequence diagrams </a:t>
            </a:r>
            <a:r>
              <a:rPr sz="1600">
                <a:solidFill>
                  <a:srgbClr val="2B2626"/>
                </a:solidFill>
                <a:latin typeface="Open Sans"/>
              </a:rPr>
              <a:t>show the order of interactions between objects.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Design classes </a:t>
            </a:r>
            <a:r>
              <a:rPr sz="1600">
                <a:solidFill>
                  <a:srgbClr val="2B2626"/>
                </a:solidFill>
                <a:latin typeface="Open Sans"/>
              </a:rPr>
              <a:t>add visibility, attribute types, parameter and return types, operations.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Interfaces </a:t>
            </a:r>
            <a:r>
              <a:rPr sz="1600">
                <a:solidFill>
                  <a:srgbClr val="2B2626"/>
                </a:solidFill>
                <a:latin typeface="Open Sans"/>
              </a:rPr>
              <a:t>define a contract — &lt;&lt;interface&gt;&gt; PaymentProcessor.processPayment().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BankPayment and MobileMoneyPayment </a:t>
            </a:r>
            <a:r>
              <a:rPr sz="1600">
                <a:solidFill>
                  <a:srgbClr val="2B2626"/>
                </a:solidFill>
                <a:latin typeface="Open Sans"/>
              </a:rPr>
              <a:t>can both implement the same interface -&gt; lower coupling.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Interfaces let the application depend on the abstraction, not a concrete class.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Patterns &amp; SOLID (outline)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Reusable structures · design guidelines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Design patterns: </a:t>
            </a:r>
            <a:r>
              <a:rPr sz="1600">
                <a:solidFill>
                  <a:srgbClr val="2B2626"/>
                </a:solidFill>
                <a:latin typeface="Open Sans"/>
              </a:rPr>
              <a:t>Factory · Observer · Strategy · Adapter · Singleton.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Strategy example: </a:t>
            </a:r>
            <a:r>
              <a:rPr sz="1600">
                <a:solidFill>
                  <a:srgbClr val="2B2626"/>
                </a:solidFill>
                <a:latin typeface="Open Sans"/>
              </a:rPr>
              <a:t>PaymentStrategy — Bank, Mobile, Card (no chain of if/else).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SOLID: </a:t>
            </a:r>
            <a:r>
              <a:rPr sz="1600">
                <a:solidFill>
                  <a:srgbClr val="2B2626"/>
                </a:solidFill>
                <a:latin typeface="Open Sans"/>
              </a:rPr>
              <a:t>Single Responsibility · Open/Closed · Liskov Substitution · Interface Segregation · Dependency Inversion.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Treat SOLID </a:t>
            </a:r>
            <a:r>
              <a:rPr sz="1600">
                <a:solidFill>
                  <a:srgbClr val="2B2626"/>
                </a:solidFill>
                <a:latin typeface="Open Sans"/>
              </a:rPr>
              <a:t>as guidelines, not magical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Patterns and principles support cohesion, low coupling and flexibility.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10 Master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Requirements -&gt; models -&gt; design -&gt;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25</a:t>
            </a:r>
          </a:p>
        </p:txBody>
      </p:sp>
      <p:pic>
        <p:nvPicPr>
          <p:cNvPr id="9" name="Picture 8" descr="w10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That is the central lesson of Week 10.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Common Misunderstandings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Avoid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“Analysis is just drawing diagrams” </a:t>
            </a:r>
            <a:r>
              <a:rPr sz="1500">
                <a:solidFill>
                  <a:srgbClr val="2B2626"/>
                </a:solidFill>
                <a:latin typeface="Open Sans"/>
              </a:rPr>
              <a:t>— it is understanding requirements, domain and behaviour.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“Design means coding” </a:t>
            </a:r>
            <a:r>
              <a:rPr sz="1500">
                <a:solidFill>
                  <a:srgbClr val="2B2626"/>
                </a:solidFill>
                <a:latin typeface="Open Sans"/>
              </a:rPr>
              <a:t>— coding is implementation; design precedes it.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“A class diagram is enough” </a:t>
            </a:r>
            <a:r>
              <a:rPr sz="1500">
                <a:solidFill>
                  <a:srgbClr val="2B2626"/>
                </a:solidFill>
                <a:latin typeface="Open Sans"/>
              </a:rPr>
              <a:t>— you may also need sequence, state, activity, component and deployment views.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“More classes = better design” </a:t>
            </a:r>
            <a:r>
              <a:rPr sz="1500">
                <a:solidFill>
                  <a:srgbClr val="2B2626"/>
                </a:solidFill>
                <a:latin typeface="Open Sans"/>
              </a:rPr>
              <a:t>— aim for an appropriate structure, not a maximum count.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“Always use inheritance” </a:t>
            </a:r>
            <a:r>
              <a:rPr sz="1500">
                <a:solidFill>
                  <a:srgbClr val="2B2626"/>
                </a:solidFill>
                <a:latin typeface="Open Sans"/>
              </a:rPr>
              <a:t>— only when a genuine IS-A relationship exists.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Classic exam traps — know them.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10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big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10 · Slide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1. </a:t>
            </a:r>
            <a:r>
              <a:rPr sz="1700">
                <a:solidFill>
                  <a:srgbClr val="2B2626"/>
                </a:solidFill>
                <a:latin typeface="Open Sans"/>
              </a:rPr>
              <a:t>Analysis tells us WHAT the system needs; design determines HOW to organise the software.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2. </a:t>
            </a:r>
            <a:r>
              <a:rPr sz="1700">
                <a:solidFill>
                  <a:srgbClr val="2B2626"/>
                </a:solidFill>
                <a:latin typeface="Open Sans"/>
              </a:rPr>
              <a:t>Good design aims for high cohesion and low coupling.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3. </a:t>
            </a:r>
            <a:r>
              <a:rPr sz="1700">
                <a:solidFill>
                  <a:srgbClr val="2B2626"/>
                </a:solidFill>
                <a:latin typeface="Open Sans"/>
              </a:rPr>
              <a:t>Abstraction hides complexity; encapsulation protects state.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4. </a:t>
            </a:r>
            <a:r>
              <a:rPr sz="1700">
                <a:solidFill>
                  <a:srgbClr val="2B2626"/>
                </a:solidFill>
                <a:latin typeface="Open Sans"/>
              </a:rPr>
              <a:t>The three models complement one another — structure + behaviour + time/state.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5. </a:t>
            </a:r>
            <a:r>
              <a:rPr sz="1700">
                <a:solidFill>
                  <a:srgbClr val="2B2626"/>
                </a:solidFill>
                <a:latin typeface="Open Sans"/>
              </a:rPr>
              <a:t>Traceability links every requirement to its models, code and tests.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10 = turning the Weeks 4–8 models into an implementable design.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Define OO design, then explain analysis vs design with the registration example.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For the UniversitySystem class, diagnose cohesion and coupling and propose a redesign.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Combine the three models for “Customer withdraws money” and draw the sequence.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Object-Oriented Design continues — refinements, integration and further design detail.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