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Refining the Object-Oriented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11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design refinement and the analysis-to-design transformation.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Distinguish </a:t>
            </a:r>
            <a:r>
              <a:rPr sz="1600">
                <a:solidFill>
                  <a:srgbClr val="2B2626"/>
                </a:solidFill>
                <a:latin typeface="Open Sans"/>
              </a:rPr>
              <a:t>an analysis class from a design class.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Identify </a:t>
            </a:r>
            <a:r>
              <a:rPr sz="1600">
                <a:solidFill>
                  <a:srgbClr val="2B2626"/>
                </a:solidFill>
                <a:latin typeface="Open Sans"/>
              </a:rPr>
              <a:t>design classes — entity, boundary and control.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Refine </a:t>
            </a:r>
            <a:r>
              <a:rPr sz="1600">
                <a:solidFill>
                  <a:srgbClr val="2B2626"/>
                </a:solidFill>
                <a:latin typeface="Open Sans"/>
              </a:rPr>
              <a:t>attributes and operations with types and signatures.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Assign </a:t>
            </a:r>
            <a:r>
              <a:rPr sz="1600">
                <a:solidFill>
                  <a:srgbClr val="2B2626"/>
                </a:solidFill>
                <a:latin typeface="Open Sans"/>
              </a:rPr>
              <a:t>responsibilities; choose association vs inheritance.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Compare </a:t>
            </a:r>
            <a:r>
              <a:rPr sz="1600">
                <a:solidFill>
                  <a:srgbClr val="2B2626"/>
                </a:solidFill>
                <a:latin typeface="Open Sans"/>
              </a:rPr>
              <a:t>interfaces and abstract classes.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cohesion, coupling, encapsulation, dependencies, layers, reuse and traceability.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Drawing a UML class diagram is not the same as completing an OO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10 -&gt; 11 -&gt;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is design? -&gt; refine it -&gt; integrate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2</a:t>
            </a:r>
          </a:p>
        </p:txBody>
      </p:sp>
      <p:pic>
        <p:nvPicPr>
          <p:cNvPr id="9" name="Picture 8" descr="w11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11 turns the Week 10 models into an implementable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 Refinement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General -&gt; detailed and precise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3</a:t>
            </a:r>
          </a:p>
        </p:txBody>
      </p:sp>
      <p:pic>
        <p:nvPicPr>
          <p:cNvPr id="9" name="Picture 8" descr="w11_refin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design model becomes increasingly precise toward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Analysis Class vs Design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key examination distinction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4</a:t>
            </a:r>
          </a:p>
        </p:txBody>
      </p:sp>
      <p:pic>
        <p:nvPicPr>
          <p:cNvPr id="9" name="Picture 8" descr="w11_analysis_vs_design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Analysis = domain concept · Design = how the software represents and manipulates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Entity, Boundary &amp; Control Classes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Three roles for thinking about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5</a:t>
            </a:r>
          </a:p>
        </p:txBody>
      </p:sp>
      <p:pic>
        <p:nvPicPr>
          <p:cNvPr id="9" name="Picture 8" descr="w11_entity_boundary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Student -&gt; RegistrationPage -&gt; RegistrationController -&gt; Registration -&gt; Course.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Refining 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plain names to typed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6</a:t>
            </a:r>
          </a:p>
        </p:txBody>
      </p:sp>
      <p:pic>
        <p:nvPicPr>
          <p:cNvPr id="9" name="Picture 8" descr="w11_attrib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Ask: what does the object need to fulfil its responsibilities?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Refining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Operation signatures communicate much more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7</a:t>
            </a:r>
          </a:p>
        </p:txBody>
      </p:sp>
      <p:pic>
        <p:nvPicPr>
          <p:cNvPr id="9" name="Picture 8" descr="w11_oper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registerCourse(course: Course): Registration — name, input, return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Responsibility-Driven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Which object should do this?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8</a:t>
            </a:r>
          </a:p>
        </p:txBody>
      </p:sp>
      <p:pic>
        <p:nvPicPr>
          <p:cNvPr id="9" name="Picture 8" descr="w11_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Assign each responsibility to the object that owns the relevant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Cohesion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How closely related are the responsibilities inside a class?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9</a:t>
            </a:r>
          </a:p>
        </p:txBody>
      </p:sp>
      <p:pic>
        <p:nvPicPr>
          <p:cNvPr id="9" name="Picture 8" descr="w11_cohe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Good design generally aims for high cohesion.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Reduce dependency with abstractions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10</a:t>
            </a:r>
          </a:p>
        </p:txBody>
      </p:sp>
      <p:pic>
        <p:nvPicPr>
          <p:cNvPr id="9" name="Picture 8" descr="w11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service depends on the abstraction, not each concrete 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Interfaces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contract — and the wall-socket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11</a:t>
            </a:r>
          </a:p>
        </p:txBody>
      </p:sp>
      <p:pic>
        <p:nvPicPr>
          <p:cNvPr id="9" name="Picture 8" descr="w11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Any class implementing an interface must provide those operations.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Abstract Class vs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comparison you must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12</a:t>
            </a:r>
          </a:p>
        </p:txBody>
      </p:sp>
      <p:pic>
        <p:nvPicPr>
          <p:cNvPr id="9" name="Picture 8" descr="w11_abstract_vs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Abstract class = common base · interface = contract (language details vary).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Association vs 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HAS / USES vs IS-A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13</a:t>
            </a:r>
          </a:p>
        </p:txBody>
      </p:sp>
      <p:pic>
        <p:nvPicPr>
          <p:cNvPr id="9" name="Picture 8" descr="w11_association_inheri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 Student TAKES a Course (association) · a Student IS-A Person (inheritance).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Encapsulation &amp; Information Hiding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class controls its own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14</a:t>
            </a:r>
          </a:p>
        </p:txBody>
      </p:sp>
      <p:pic>
        <p:nvPicPr>
          <p:cNvPr id="9" name="Picture 8" descr="w11_encaps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account.withdraw(500) enforces rules; account.balance = -500000 is blocked.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Dependencies &amp; Dependency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Provide the dependency, don't construct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15</a:t>
            </a:r>
          </a:p>
        </p:txBody>
      </p:sp>
      <p:pic>
        <p:nvPicPr>
          <p:cNvPr id="9" name="Picture 8" descr="w11_depend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RegistrationService(repository) improves testability, flexibility, substitution.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Layered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Divide the system into logical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16</a:t>
            </a:r>
          </a:p>
        </p:txBody>
      </p:sp>
      <p:pic>
        <p:nvPicPr>
          <p:cNvPr id="9" name="Picture 8" descr="w11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If the web UI becomes a mobile app, the business rules can remain usable.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 for Reuse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reusable component, many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17</a:t>
            </a:r>
          </a:p>
        </p:txBody>
      </p:sp>
      <p:pic>
        <p:nvPicPr>
          <p:cNvPr id="9" name="Picture 8" descr="w11_re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One AuthenticationService for Student Portal, Staff Portal, Mobile App, Library.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 for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Requirements will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Start: </a:t>
            </a:r>
            <a:r>
              <a:rPr sz="1600">
                <a:solidFill>
                  <a:srgbClr val="2B2626"/>
                </a:solidFill>
                <a:latin typeface="Open Sans"/>
              </a:rPr>
              <a:t>“Students only use email.”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Then: </a:t>
            </a:r>
            <a:r>
              <a:rPr sz="1600">
                <a:solidFill>
                  <a:srgbClr val="2B2626"/>
                </a:solidFill>
                <a:latin typeface="Open Sans"/>
              </a:rPr>
              <a:t>“Add SMS.” — later, “Add WhatsApp.”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Poor design: </a:t>
            </a:r>
            <a:r>
              <a:rPr sz="1600">
                <a:solidFill>
                  <a:srgbClr val="2B2626"/>
                </a:solidFill>
                <a:latin typeface="Open Sans"/>
              </a:rPr>
              <a:t>every new method changes the Student class.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Better: </a:t>
            </a:r>
            <a:r>
              <a:rPr sz="1600">
                <a:solidFill>
                  <a:srgbClr val="2B2626"/>
                </a:solidFill>
                <a:latin typeface="Open Sans"/>
              </a:rPr>
              <a:t>NotificationService behind a Notification interface -&gt; Email, SMS, WhatsApp.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Result: </a:t>
            </a:r>
            <a:r>
              <a:rPr sz="1600">
                <a:solidFill>
                  <a:srgbClr val="2B2626"/>
                </a:solidFill>
                <a:latin typeface="Open Sans"/>
              </a:rPr>
              <a:t>the architecture stays adaptable.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Design for reasonable future change without trying to predict everything.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How Do We Judge a Design?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Seven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Correct? </a:t>
            </a:r>
            <a:r>
              <a:rPr sz="1600">
                <a:solidFill>
                  <a:srgbClr val="2B2626"/>
                </a:solidFill>
                <a:latin typeface="Open Sans"/>
              </a:rPr>
              <a:t>meets the requirements.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Understandable? </a:t>
            </a:r>
            <a:r>
              <a:rPr sz="1600">
                <a:solidFill>
                  <a:srgbClr val="2B2626"/>
                </a:solidFill>
                <a:latin typeface="Open Sans"/>
              </a:rPr>
              <a:t>another developer can understand it.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Maintainable? </a:t>
            </a:r>
            <a:r>
              <a:rPr sz="1600">
                <a:solidFill>
                  <a:srgbClr val="2B2626"/>
                </a:solidFill>
                <a:latin typeface="Open Sans"/>
              </a:rPr>
              <a:t>it can be changed.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Testable? </a:t>
            </a:r>
            <a:r>
              <a:rPr sz="1600">
                <a:solidFill>
                  <a:srgbClr val="2B2626"/>
                </a:solidFill>
                <a:latin typeface="Open Sans"/>
              </a:rPr>
              <a:t>components can be tested in isolation.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Reusable? </a:t>
            </a:r>
            <a:r>
              <a:rPr sz="1600">
                <a:solidFill>
                  <a:srgbClr val="2B2626"/>
                </a:solidFill>
                <a:latin typeface="Open Sans"/>
              </a:rPr>
              <a:t>useful parts can be used elsewhere.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Appropriately coupled? </a:t>
            </a:r>
            <a:r>
              <a:rPr sz="1600">
                <a:solidFill>
                  <a:srgbClr val="2B2626"/>
                </a:solidFill>
                <a:latin typeface="Open Sans"/>
              </a:rPr>
              <a:t>no unnecessary dependencies.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Cohesive? </a:t>
            </a:r>
            <a:r>
              <a:rPr sz="1600">
                <a:solidFill>
                  <a:srgbClr val="2B2626"/>
                </a:solidFill>
                <a:latin typeface="Open Sans"/>
              </a:rPr>
              <a:t>each component has a focused purpose.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These mirror the OO design-quality literature (coupling, cohesion, maintainability).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 Traceability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Follow requirement R01 to code and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20</a:t>
            </a:r>
          </a:p>
        </p:txBody>
      </p:sp>
      <p:pic>
        <p:nvPicPr>
          <p:cNvPr id="9" name="Picture 8" descr="w11_trac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37160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“Where is R01 implemented?” — traceability answers this.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Integrated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Seven steps to a complete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21</a:t>
            </a:r>
          </a:p>
        </p:txBody>
      </p:sp>
      <p:pic>
        <p:nvPicPr>
          <p:cNvPr id="9" name="Picture 8" descr="w11_case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37160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 case -&gt; classes -&gt; class design -&gt; service -&gt; sequence -&gt; state -&gt; architecture.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Design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Avoid 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One giant class </a:t>
            </a:r>
            <a:r>
              <a:rPr sz="1500">
                <a:solidFill>
                  <a:srgbClr val="2B2626"/>
                </a:solidFill>
                <a:latin typeface="Open Sans"/>
              </a:rPr>
              <a:t>— low cohesion and high coupling.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Everything inherits from everything </a:t>
            </a:r>
            <a:r>
              <a:rPr sz="1500">
                <a:solidFill>
                  <a:srgbClr val="2B2626"/>
                </a:solidFill>
                <a:latin typeface="Open Sans"/>
              </a:rPr>
              <a:t>— only when IS-A genuinely holds.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Direct database access everywhere </a:t>
            </a:r>
            <a:r>
              <a:rPr sz="1500">
                <a:solidFill>
                  <a:srgbClr val="2B2626"/>
                </a:solidFill>
                <a:latin typeface="Open Sans"/>
              </a:rPr>
              <a:t>— route through repositories.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Exposing everything </a:t>
            </a:r>
            <a:r>
              <a:rPr sz="1500">
                <a:solidFill>
                  <a:srgbClr val="2B2626"/>
                </a:solidFill>
                <a:latin typeface="Open Sans"/>
              </a:rPr>
              <a:t>— public balance / password undermines encapsulation.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Designing only for today </a:t>
            </a:r>
            <a:r>
              <a:rPr sz="1500">
                <a:solidFill>
                  <a:srgbClr val="2B2626"/>
                </a:solidFill>
                <a:latin typeface="Open Sans"/>
              </a:rPr>
              <a:t>— consider reasonable future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Five classic traps in examination answers.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11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most important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11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1. </a:t>
            </a:r>
            <a:r>
              <a:rPr sz="1700">
                <a:solidFill>
                  <a:srgbClr val="2B2626"/>
                </a:solidFill>
                <a:latin typeface="Open Sans"/>
              </a:rPr>
              <a:t>Refinement turns analysis classes into detailed design classes.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2. </a:t>
            </a:r>
            <a:r>
              <a:rPr sz="1700">
                <a:solidFill>
                  <a:srgbClr val="2B2626"/>
                </a:solidFill>
                <a:latin typeface="Open Sans"/>
              </a:rPr>
              <a:t>Assign responsibilities to the objects that own the information.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3. </a:t>
            </a:r>
            <a:r>
              <a:rPr sz="1700">
                <a:solidFill>
                  <a:srgbClr val="2B2626"/>
                </a:solidFill>
                <a:latin typeface="Open Sans"/>
              </a:rPr>
              <a:t>Aim for high cohesion and low coupling (use interfaces).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4. </a:t>
            </a:r>
            <a:r>
              <a:rPr sz="1700">
                <a:solidFill>
                  <a:srgbClr val="2B2626"/>
                </a:solidFill>
                <a:latin typeface="Open Sans"/>
              </a:rPr>
              <a:t>Encapsulate state; hide implementation; inject dependencies.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5. </a:t>
            </a:r>
            <a:r>
              <a:rPr sz="1700">
                <a:solidFill>
                  <a:srgbClr val="2B2626"/>
                </a:solidFill>
                <a:latin typeface="Open Sans"/>
              </a:rPr>
              <a:t>Layer the architecture; design for reuse and change; keep traceability.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Goal: correct, understandable, maintainable, testable, reusable, adaptable design.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Refine the Student/Course/Registration analysis classes into full design classes.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Draw a PaymentGateway interface with Bank and Mobile implementations.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Redesign the HospitalSystem class into a layered, cohesive structure.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Integrated OO Design — putting all models and decisions together into a complete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