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Integrated Object-Oriented Modelling and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12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integrated modelling and why models must be consistent.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Relate </a:t>
            </a:r>
            <a:r>
              <a:rPr sz="1600">
                <a:solidFill>
                  <a:srgbClr val="2B2626"/>
                </a:solidFill>
                <a:latin typeface="Open Sans"/>
              </a:rPr>
              <a:t>the use-case, class, interaction, state and activity models.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Trace </a:t>
            </a:r>
            <a:r>
              <a:rPr sz="1600">
                <a:solidFill>
                  <a:srgbClr val="2B2626"/>
                </a:solidFill>
                <a:latin typeface="Open Sans"/>
              </a:rPr>
              <a:t>a requirement through classes, interactions and operations.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Apply </a:t>
            </a:r>
            <a:r>
              <a:rPr sz="1600">
                <a:solidFill>
                  <a:srgbClr val="2B2626"/>
                </a:solidFill>
                <a:latin typeface="Open Sans"/>
              </a:rPr>
              <a:t>multiplicity and packages to organise a model.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Think </a:t>
            </a:r>
            <a:r>
              <a:rPr sz="1600">
                <a:solidFill>
                  <a:srgbClr val="2B2626"/>
                </a:solidFill>
                <a:latin typeface="Open Sans"/>
              </a:rPr>
              <a:t>at component and architecture level.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Detect </a:t>
            </a:r>
            <a:r>
              <a:rPr sz="1600">
                <a:solidFill>
                  <a:srgbClr val="2B2626"/>
                </a:solidFill>
                <a:latin typeface="Open Sans"/>
              </a:rPr>
              <a:t>contradictions between models and validate a design.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600">
                <a:solidFill>
                  <a:srgbClr val="2B2626"/>
                </a:solidFill>
                <a:latin typeface="Open Sans"/>
              </a:rPr>
              <a:t>a model from a diagram.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Every model should contribute to the same understanding of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11 → 12 →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detailed design elements to one coherent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2</a:t>
            </a:r>
          </a:p>
        </p:txBody>
      </p:sp>
      <p:pic>
        <p:nvPicPr>
          <p:cNvPr id="9" name="Picture 8" descr="w12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12 brings every model together into one consistent system design.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Integrated Modelling: The House Analogy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Different drawings must describe the SAME 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3</a:t>
            </a:r>
          </a:p>
        </p:txBody>
      </p:sp>
      <p:pic>
        <p:nvPicPr>
          <p:cNvPr id="9" name="Picture 8" descr="w12_house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Software models must collectively tell a coherent story.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Different Models, Different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Many views of the same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4</a:t>
            </a:r>
          </a:p>
        </p:txBody>
      </p:sp>
      <p:pic>
        <p:nvPicPr>
          <p:cNvPr id="9" name="Picture 8" descr="w12_model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UML groups structural and behavioural modelling into different parts of its specification.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Requirements → models → integrated design →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5</a:t>
            </a:r>
          </a:p>
        </p:txBody>
      </p:sp>
      <p:pic>
        <p:nvPicPr>
          <p:cNvPr id="9" name="Picture 8" descr="w12_big_pi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That is the central idea of Week 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Model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models must agree — here they do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6</a:t>
            </a:r>
          </a:p>
        </p:txBody>
      </p:sp>
      <p:pic>
        <p:nvPicPr>
          <p:cNvPr id="9" name="Picture 8" descr="w12_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class model lacks Course and Registration — inconsistent with the use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Traceability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Where did this design element come from?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7</a:t>
            </a:r>
          </a:p>
        </p:txBody>
      </p:sp>
      <p:pic>
        <p:nvPicPr>
          <p:cNvPr id="9" name="Picture 8" descr="w12_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traceable design links every element back to a requirement.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Registration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How objects collaborate to accomplish the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8</a:t>
            </a:r>
          </a:p>
        </p:txBody>
      </p:sp>
      <p:pic>
        <p:nvPicPr>
          <p:cNvPr id="9" name="Picture 8" descr="w1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If the sequence uses a class, that class must exist in the class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Registration State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How a registration changes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9</a:t>
            </a:r>
          </a:p>
        </p:txBody>
      </p:sp>
      <p:pic>
        <p:nvPicPr>
          <p:cNvPr id="9" name="Picture 8" descr="w12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state model makes business rules explicit (e.g. can CANCELLED become CONFIRMED?).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Registration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activities and decisions occur in the workflow?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10</a:t>
            </a:r>
          </a:p>
        </p:txBody>
      </p:sp>
      <p:pic>
        <p:nvPicPr>
          <p:cNvPr id="9" name="Picture 8" descr="w12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Activity = the workflow; sequence = who talks to whom.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Comparing the Behavioural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Know which model answers which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11</a:t>
            </a:r>
          </a:p>
        </p:txBody>
      </p:sp>
      <p:pic>
        <p:nvPicPr>
          <p:cNvPr id="9" name="Picture 8" descr="w12_view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case = what · sequence = how over time · activity = workflow · state = object lifecycle.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Multiplicity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Precise numbers on each side of a relationship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12</a:t>
            </a:r>
          </a:p>
        </p:txBody>
      </p:sp>
      <p:pic>
        <p:nvPicPr>
          <p:cNvPr id="9" name="Picture 8" descr="w12_multipl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Student 1 — 0..* Registration — Course gives precise information.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Packages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Organising a large model into related 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13</a:t>
            </a:r>
          </a:p>
        </p:txBody>
      </p:sp>
      <p:pic>
        <p:nvPicPr>
          <p:cNvPr id="9" name="Picture 8" descr="w12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Authentication · Academic · Finance · Library · Notification.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Architectural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Organising classes into a layered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14</a:t>
            </a:r>
          </a:p>
        </p:txBody>
      </p:sp>
      <p:pic>
        <p:nvPicPr>
          <p:cNvPr id="9" name="Picture 8" descr="w1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Layers give responsibilities clearer boundaries.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Component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Meaningful, replaceable, understandable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15</a:t>
            </a:r>
          </a:p>
        </p:txBody>
      </p:sp>
      <p:pic>
        <p:nvPicPr>
          <p:cNvPr id="9" name="Picture 8" descr="w1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Beyond classes: how is the software divided into components?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Does the design represent what the system must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16</a:t>
            </a:r>
          </a:p>
        </p:txBody>
      </p:sp>
      <p:pic>
        <p:nvPicPr>
          <p:cNvPr id="9" name="Picture 8" descr="w12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sequence with no checkCapacity() fails the “full course” requirement.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Complete Integrated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Requirement R01 through every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17</a:t>
            </a:r>
          </a:p>
        </p:txBody>
      </p:sp>
      <p:pic>
        <p:nvPicPr>
          <p:cNvPr id="9" name="Picture 8" descr="w12_integrated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case · classes · sequence · activity · state · architecture.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Model vs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Google Maps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18</a:t>
            </a:r>
          </a:p>
        </p:txBody>
      </p:sp>
      <p:pic>
        <p:nvPicPr>
          <p:cNvPr id="9" name="Picture 8" descr="w12_model_v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diagram is a visual representation; a model is the underlying structure.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Questions a design team should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Requirement coverage? </a:t>
            </a:r>
            <a:r>
              <a:rPr sz="1600">
                <a:solidFill>
                  <a:srgbClr val="2B2626"/>
                </a:solidFill>
                <a:latin typeface="Open Sans"/>
              </a:rPr>
              <a:t>every important requirement represented.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Use-case coverage? </a:t>
            </a:r>
            <a:r>
              <a:rPr sz="1600">
                <a:solidFill>
                  <a:srgbClr val="2B2626"/>
                </a:solidFill>
                <a:latin typeface="Open Sans"/>
              </a:rPr>
              <a:t>every major use case has supporting design elements.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Class / interaction / state coverage? </a:t>
            </a:r>
            <a:r>
              <a:rPr sz="1600">
                <a:solidFill>
                  <a:srgbClr val="2B2626"/>
                </a:solidFill>
                <a:latin typeface="Open Sans"/>
              </a:rPr>
              <a:t>the required data and behaviour exist.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Architecture? </a:t>
            </a:r>
            <a:r>
              <a:rPr sz="1600">
                <a:solidFill>
                  <a:srgbClr val="2B2626"/>
                </a:solidFill>
                <a:latin typeface="Open Sans"/>
              </a:rPr>
              <a:t>responsibilities divided appropriately.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Coupling / cohesion? </a:t>
            </a:r>
            <a:r>
              <a:rPr sz="1600">
                <a:solidFill>
                  <a:srgbClr val="2B2626"/>
                </a:solidFill>
                <a:latin typeface="Open Sans"/>
              </a:rPr>
              <a:t>no unnecessary dependencies; each part has a focus.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Reuse / maintainability? </a:t>
            </a:r>
            <a:r>
              <a:rPr sz="1600">
                <a:solidFill>
                  <a:srgbClr val="2B2626"/>
                </a:solidFill>
                <a:latin typeface="Open Sans"/>
              </a:rPr>
              <a:t>components reusable; change is manageable.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Run this review before implementation.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Confusions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Don't mix these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Use case vs sequence: </a:t>
            </a:r>
            <a:r>
              <a:rPr sz="1700">
                <a:solidFill>
                  <a:srgbClr val="2B2626"/>
                </a:solidFill>
                <a:latin typeface="Open Sans"/>
              </a:rPr>
              <a:t>what the user wants vs how objects communicate.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Activity vs state: </a:t>
            </a:r>
            <a:r>
              <a:rPr sz="1700">
                <a:solidFill>
                  <a:srgbClr val="2B2626"/>
                </a:solidFill>
                <a:latin typeface="Open Sans"/>
              </a:rPr>
              <a:t>activities in a process vs states of one object.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Class vs object diagram: </a:t>
            </a:r>
            <a:r>
              <a:rPr sz="1700">
                <a:solidFill>
                  <a:srgbClr val="2B2626"/>
                </a:solidFill>
                <a:latin typeface="Open Sans"/>
              </a:rPr>
              <a:t>blueprint (Student) vs instance (student:Student).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Class = blueprint · object = actual thing created from the blueprint.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12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central principle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12 · Slide 21</a:t>
            </a:r>
          </a:p>
        </p:txBody>
      </p:sp>
      <p:pic>
        <p:nvPicPr>
          <p:cNvPr id="9" name="Picture 8" descr="w12_summar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Tell the same system's story through different models — and make them agree.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Build a full integrated model for “patient books an appointment” (use case → class → sequence → activity → state).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Audit one use case for missing links (requirement → class → operation → test).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Explain model vs diagram using the Google Maps analogy.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multilayer architecture, reusable/adaptable components, and architectural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