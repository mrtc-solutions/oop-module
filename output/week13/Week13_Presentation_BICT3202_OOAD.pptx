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Multilayer Systems, Reusable Components and Architectural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13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software architecture and distinguish it from class design.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multilayer architecture and identify common layers.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separation of concerns, cohesion and coupling.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600">
                <a:solidFill>
                  <a:srgbClr val="2B2626"/>
                </a:solidFill>
                <a:latin typeface="Open Sans"/>
              </a:rPr>
              <a:t>a software component and explain component interfaces.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reusable and adaptable components.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Draw </a:t>
            </a:r>
            <a:r>
              <a:rPr sz="1600">
                <a:solidFill>
                  <a:srgbClr val="2B2626"/>
                </a:solidFill>
                <a:latin typeface="Open Sans"/>
              </a:rPr>
              <a:t>a basic UML component diagram and explain packages.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Evaluate </a:t>
            </a:r>
            <a:r>
              <a:rPr sz="1600">
                <a:solidFill>
                  <a:srgbClr val="2B2626"/>
                </a:solidFill>
                <a:latin typeface="Open Sans"/>
              </a:rPr>
              <a:t>the benefits and limitations of multilayer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Organise the software so it is easier to maintain, reuse, replace and adapt.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Where Week 13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classes to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2</a:t>
            </a:r>
          </a:p>
        </p:txBody>
      </p:sp>
      <p:pic>
        <p:nvPicPr>
          <p:cNvPr id="9" name="Picture 8" descr="w13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Not just “what objects do we need?” but “how should they be organised?”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Architecture vs Class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Architecture is broader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3</a:t>
            </a:r>
          </a:p>
        </p:txBody>
      </p:sp>
      <p:pic>
        <p:nvPicPr>
          <p:cNvPr id="9" name="Picture 8" descr="w13_architecture_vs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Class design = what classes; architecture = how they are organised.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Basic Multilayer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Five logical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4</a:t>
            </a:r>
          </a:p>
        </p:txBody>
      </p:sp>
      <p:pic>
        <p:nvPicPr>
          <p:cNvPr id="9" name="Picture 8" descr="w1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Presentation → Application → Domain → Data Access → Database.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Presentation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User interaction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Handles: </a:t>
            </a:r>
            <a:r>
              <a:rPr sz="1600">
                <a:solidFill>
                  <a:srgbClr val="2B2626"/>
                </a:solidFill>
                <a:latin typeface="Open Sans"/>
              </a:rPr>
              <a:t>displaying information, collecting input, basic formatting, sending requests, showing responses.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Does not normally hold </a:t>
            </a:r>
            <a:r>
              <a:rPr sz="1600">
                <a:solidFill>
                  <a:srgbClr val="2B2626"/>
                </a:solidFill>
                <a:latin typeface="Open Sans"/>
              </a:rPr>
              <a:t>all the business rules.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Why: </a:t>
            </a:r>
            <a:r>
              <a:rPr sz="1600">
                <a:solidFill>
                  <a:srgbClr val="2B2626"/>
                </a:solidFill>
                <a:latin typeface="Open Sans"/>
              </a:rPr>
              <a:t>web, Android, iOS and desktop would each duplicate the same logic.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One rule change should not mean changing several applications.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Domain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Business rules in one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6</a:t>
            </a:r>
          </a:p>
        </p:txBody>
      </p:sp>
      <p:pic>
        <p:nvPicPr>
          <p:cNvPr id="9" name="Picture 8" descr="w13_domain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max 6 → max 8 courses: centralised = one change; duplicated = four changes.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Data Access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Route database access through repositories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7</a:t>
            </a:r>
          </a:p>
        </p:txBody>
      </p:sp>
      <p:pic>
        <p:nvPicPr>
          <p:cNvPr id="9" name="Picture 8" descr="w13_data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Changing database technology then affects far fewer classes.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Separation of Concerns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Different parts, different responsibilities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8</a:t>
            </a:r>
          </a:p>
        </p:txBody>
      </p:sp>
      <p:pic>
        <p:nvPicPr>
          <p:cNvPr id="9" name="Picture 8" descr="w13_sepa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One huge class is hard to test, modify, reuse and understand.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Cohesion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Keep related responsibilities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9</a:t>
            </a:r>
          </a:p>
        </p:txBody>
      </p:sp>
      <p:pic>
        <p:nvPicPr>
          <p:cNvPr id="9" name="Picture 8" descr="w13_coh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good class has a clear reason for existing.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Coupling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Avoid unnecessary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10</a:t>
            </a:r>
          </a:p>
        </p:txBody>
      </p:sp>
      <p:pic>
        <p:nvPicPr>
          <p:cNvPr id="9" name="Picture 8" descr="w13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High cohesion + appropriately low coupling.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Component vs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component is a larger modular unit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11</a:t>
            </a:r>
          </a:p>
        </p:txBody>
      </p:sp>
      <p:pic>
        <p:nvPicPr>
          <p:cNvPr id="9" name="Picture 8" descr="w13_component_vs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engine is a component, but it contains many parts.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Component Interfaces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Communicate through defined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12</a:t>
            </a:r>
          </a:p>
        </p:txBody>
      </p:sp>
      <p:pic>
        <p:nvPicPr>
          <p:cNvPr id="9" name="Picture 8" descr="w13_component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Replace one payment implementation without rewriting every client.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Reusable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authentication component, many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13</a:t>
            </a:r>
          </a:p>
        </p:txBody>
      </p:sp>
      <p:pic>
        <p:nvPicPr>
          <p:cNvPr id="9" name="Picture 8" descr="w13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Reuse reduces effort and duplication — when the component is well designed.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Adaptable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Configure or extend, don't hard-code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14</a:t>
            </a:r>
          </a:p>
        </p:txBody>
      </p:sp>
      <p:pic>
        <p:nvPicPr>
          <p:cNvPr id="9" name="Picture 8" descr="w13_adap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NotificationService with Email, SMS and Push adapts without a redesign.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Reuse vs 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Inheritance is not always the best 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Inheritance = </a:t>
            </a:r>
            <a:r>
              <a:rPr sz="1700">
                <a:solidFill>
                  <a:srgbClr val="2B2626"/>
                </a:solidFill>
                <a:latin typeface="Open Sans"/>
              </a:rPr>
              <a:t>an IS-A relationship (Administrator IS-A User).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Not: </a:t>
            </a:r>
            <a:r>
              <a:rPr sz="1700">
                <a:solidFill>
                  <a:srgbClr val="2B2626"/>
                </a:solidFill>
                <a:latin typeface="Open Sans"/>
              </a:rPr>
              <a:t>RegistrationService IS-A Database.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Composition = </a:t>
            </a:r>
            <a:r>
              <a:rPr sz="1700">
                <a:solidFill>
                  <a:srgbClr val="2B2626"/>
                </a:solidFill>
                <a:latin typeface="Open Sans"/>
              </a:rPr>
              <a:t>RegistrationService USES NotificationService.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Other reuse: </a:t>
            </a:r>
            <a:r>
              <a:rPr sz="1700">
                <a:solidFill>
                  <a:srgbClr val="2B2626"/>
                </a:solidFill>
                <a:latin typeface="Open Sans"/>
              </a:rPr>
              <a:t>composition, interfaces, services, libraries, frameworks, configurable components.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Reuse does not automatically require inheritance.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UML Component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Organisation and relationships of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16</a:t>
            </a:r>
          </a:p>
        </p:txBody>
      </p:sp>
      <p:pic>
        <p:nvPicPr>
          <p:cNvPr id="9" name="Picture 8" descr="w13_componen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One of UML's structural diagram types.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Packages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Package = organisation · Component = functionality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17</a:t>
            </a:r>
          </a:p>
        </p:txBody>
      </p:sp>
      <p:pic>
        <p:nvPicPr>
          <p:cNvPr id="9" name="Picture 8" descr="w13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package is a namespace; a component encapsulates functionality behind interfaces.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Dependency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Control the direction of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18</a:t>
            </a:r>
          </a:p>
        </p:txBody>
      </p:sp>
      <p:pic>
        <p:nvPicPr>
          <p:cNvPr id="9" name="Picture 8" descr="w13_dependency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Presentation → Application → Domain → Infrastructure — not everything ↔ everything.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Why Multilayer Architecture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Five practical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19</a:t>
            </a:r>
          </a:p>
        </p:txBody>
      </p:sp>
      <p:pic>
        <p:nvPicPr>
          <p:cNvPr id="9" name="Picture 8" descr="w13_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Maintainability · reuse · testability · adaptability · team development.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Limitations of Multilayer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More layers is not always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20</a:t>
            </a:r>
          </a:p>
        </p:txBody>
      </p:sp>
      <p:pic>
        <p:nvPicPr>
          <p:cNvPr id="9" name="Picture 8" descr="w13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Architecture should match the problem — not be a ritual.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Deployment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Logical = how it is organised · deployment = where it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21</a:t>
            </a:r>
          </a:p>
        </p:txBody>
      </p:sp>
      <p:pic>
        <p:nvPicPr>
          <p:cNvPr id="9" name="Picture 8" descr="w13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deployment diagram shows software artifacts on nodes at runtime.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Reusability Design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Four principles + a warning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Clear interfaces </a:t>
            </a:r>
            <a:r>
              <a:rPr sz="1600">
                <a:solidFill>
                  <a:srgbClr val="2B2626"/>
                </a:solidFill>
                <a:latin typeface="Open Sans"/>
              </a:rPr>
              <a:t>— interact through a well-defined contract.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Minimise dependencies </a:t>
            </a:r>
            <a:r>
              <a:rPr sz="1600">
                <a:solidFill>
                  <a:srgbClr val="2B2626"/>
                </a:solidFill>
                <a:latin typeface="Open Sans"/>
              </a:rPr>
              <a:t>— don't couple to one application.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Encapsulation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expose processPayment(), hide the internals.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Configuration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channel = SMS instead of hard-coding SMS.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Warning: </a:t>
            </a:r>
            <a:r>
              <a:rPr sz="1600">
                <a:solidFill>
                  <a:srgbClr val="2B2626"/>
                </a:solidFill>
                <a:latin typeface="Open Sans"/>
              </a:rPr>
              <a:t>design for appropriate reuse, not reuse at any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Don't spend three weeks turning a SmallCalculator into a framework.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Confusions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Don't mix these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Layer vs component: </a:t>
            </a:r>
            <a:r>
              <a:rPr sz="1600">
                <a:solidFill>
                  <a:srgbClr val="2B2626"/>
                </a:solidFill>
                <a:latin typeface="Open Sans"/>
              </a:rPr>
              <a:t>a level vs a modular unit.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Component vs class: </a:t>
            </a:r>
            <a:r>
              <a:rPr sz="1600">
                <a:solidFill>
                  <a:srgbClr val="2B2626"/>
                </a:solidFill>
                <a:latin typeface="Open Sans"/>
              </a:rPr>
              <a:t>larger unit vs finer building block.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Package vs layer: </a:t>
            </a:r>
            <a:r>
              <a:rPr sz="1600">
                <a:solidFill>
                  <a:srgbClr val="2B2626"/>
                </a:solidFill>
                <a:latin typeface="Open Sans"/>
              </a:rPr>
              <a:t>namespace vs responsibility-based separation.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Reuse vs inheritance: </a:t>
            </a:r>
            <a:r>
              <a:rPr sz="1600">
                <a:solidFill>
                  <a:srgbClr val="2B2626"/>
                </a:solidFill>
                <a:latin typeface="Open Sans"/>
              </a:rPr>
              <a:t>reuse does not require inheritance.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Cohesion vs coupling: </a:t>
            </a:r>
            <a:r>
              <a:rPr sz="1600">
                <a:solidFill>
                  <a:srgbClr val="2B2626"/>
                </a:solidFill>
                <a:latin typeface="Open Sans"/>
              </a:rPr>
              <a:t>keep related things together; keep dependencies apart.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Five classic traps in examination answers.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13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core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13 · Slide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1. </a:t>
            </a:r>
            <a:r>
              <a:rPr sz="1700">
                <a:solidFill>
                  <a:srgbClr val="2B2626"/>
                </a:solidFill>
                <a:latin typeface="Open Sans"/>
              </a:rPr>
              <a:t>Divide responsibilities into logical layers.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2. </a:t>
            </a:r>
            <a:r>
              <a:rPr sz="1700">
                <a:solidFill>
                  <a:srgbClr val="2B2626"/>
                </a:solidFill>
                <a:latin typeface="Open Sans"/>
              </a:rPr>
              <a:t>Keep related responsibilities together (high cohesion).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3. </a:t>
            </a:r>
            <a:r>
              <a:rPr sz="1700">
                <a:solidFill>
                  <a:srgbClr val="2B2626"/>
                </a:solidFill>
                <a:latin typeface="Open Sans"/>
              </a:rPr>
              <a:t>Avoid unnecessary dependencies (low coupling).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4. </a:t>
            </a:r>
            <a:r>
              <a:rPr sz="1700">
                <a:solidFill>
                  <a:srgbClr val="2B2626"/>
                </a:solidFill>
                <a:latin typeface="Open Sans"/>
              </a:rPr>
              <a:t>Build components with clear interfaces.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5. </a:t>
            </a:r>
            <a:r>
              <a:rPr sz="1700">
                <a:solidFill>
                  <a:srgbClr val="2B2626"/>
                </a:solidFill>
                <a:latin typeface="Open Sans"/>
              </a:rPr>
              <a:t>Design for appropriate reuse and adaptability — and let architecture match the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OO design = responsibilities, objects, components and layers working together.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Classify the registration activities into layers (Presentation/Application/Domain/Data Access/Database).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Draw a component diagram for the online banking system.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Identify three reusable and two adaptable components for the university system.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integrating the Object, Dynamic and Behavioural models into the OO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