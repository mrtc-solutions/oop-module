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8607" y="685800"/>
            <a:ext cx="1554480" cy="1554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377440"/>
            <a:ext cx="112772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E4C97C"/>
                </a:solidFill>
                <a:latin typeface="Poppins"/>
              </a:rPr>
              <a:t>EXPLOITS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AF6EC"/>
                </a:solidFill>
                <a:latin typeface="Open Sans"/>
              </a:rPr>
              <a:t>BSc INFORMATION COMMUNICATION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C9A227"/>
                </a:solidFill>
                <a:latin typeface="Poppins"/>
              </a:rPr>
              <a:t>BICT 3202 · OBJECT-ORIENTED ANALYSIS AND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Poppins"/>
              </a:rPr>
              <a:t>WEEK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FAF6EC"/>
                </a:solidFill>
                <a:latin typeface="Poppins"/>
              </a:rPr>
              <a:t>Integrating Object, Dynamic and Behavioural Models into Object-Oriented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Francis Fweta  ·  ICT Lecturer  ·  Week 14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By the end of this week, you should be able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Define </a:t>
            </a:r>
            <a:r>
              <a:rPr sz="1600">
                <a:solidFill>
                  <a:srgbClr val="2B2626"/>
                </a:solidFill>
                <a:latin typeface="Open Sans"/>
              </a:rPr>
              <a:t>OOD and explain analysis vs design.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why analysis models must become design models.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Explain </a:t>
            </a:r>
            <a:r>
              <a:rPr sz="1600">
                <a:solidFill>
                  <a:srgbClr val="2B2626"/>
                </a:solidFill>
                <a:latin typeface="Open Sans"/>
              </a:rPr>
              <a:t>design classes, responsibilities, attributes and operations.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Integrate </a:t>
            </a:r>
            <a:r>
              <a:rPr sz="1600">
                <a:solidFill>
                  <a:srgbClr val="2B2626"/>
                </a:solidFill>
                <a:latin typeface="Open Sans"/>
              </a:rPr>
              <a:t>the object model with the dynamic and behavioural models.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Trace </a:t>
            </a:r>
            <a:r>
              <a:rPr sz="1600">
                <a:solidFill>
                  <a:srgbClr val="2B2626"/>
                </a:solidFill>
                <a:latin typeface="Open Sans"/>
              </a:rPr>
              <a:t>a requirement from a use case to classes and operations.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Use </a:t>
            </a:r>
            <a:r>
              <a:rPr sz="1600">
                <a:solidFill>
                  <a:srgbClr val="2B2626"/>
                </a:solidFill>
                <a:latin typeface="Open Sans"/>
              </a:rPr>
              <a:t>sequence, state and activity diagrams to refine class responsibilities.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Identify </a:t>
            </a:r>
            <a:r>
              <a:rPr sz="1600">
                <a:solidFill>
                  <a:srgbClr val="2B2626"/>
                </a:solidFill>
                <a:latin typeface="Open Sans"/>
              </a:rPr>
              <a:t>design inconsistencies and refine an analysis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Each diagram is a different view of the SAME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13 -&gt; Week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From architecture to the contents of the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2</a:t>
            </a:r>
          </a:p>
        </p:txBody>
      </p:sp>
      <p:pic>
        <p:nvPicPr>
          <p:cNvPr id="9" name="Picture 8" descr="w14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Week 14 combines all the models into one coherent software design.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Analysis vs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What the system needs vs how the software provides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3</a:t>
            </a:r>
          </a:p>
        </p:txBody>
      </p:sp>
      <p:pic>
        <p:nvPicPr>
          <p:cNvPr id="9" name="Picture 8" descr="w14_analysis_vs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Analysis = Student/Course/Registration · Design = Controller/Service/Repository/Validator.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Analysis Model -&gt; Design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Design classes must be justified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4</a:t>
            </a:r>
          </a:p>
        </p:txBody>
      </p:sp>
      <p:pic>
        <p:nvPicPr>
          <p:cNvPr id="9" name="Picture 8" descr="w14_trans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Requirements -&gt; use cases -&gt; analysis -&gt; design decisions -&gt; design -&gt;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Three Major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Each answers a different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5</a:t>
            </a:r>
          </a:p>
        </p:txBody>
      </p:sp>
      <p:pic>
        <p:nvPicPr>
          <p:cNvPr id="9" name="Picture 8" descr="w14_three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Object = what exists · Dynamic = what changes · Behavioural = what happens.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One System, Multiple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Six views — not six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6</a:t>
            </a:r>
          </a:p>
        </p:txBody>
      </p:sp>
      <p:pic>
        <p:nvPicPr>
          <p:cNvPr id="9" name="Picture 8" descr="w14_multiple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 case · class · sequence · activity · state · component.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From Use Case to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Basic flow and candidate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7</a:t>
            </a:r>
          </a:p>
        </p:txBody>
      </p:sp>
      <p:pic>
        <p:nvPicPr>
          <p:cNvPr id="9" name="Picture 8" descr="w14_use_cas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371600"/>
            <a:ext cx="9692640" cy="54232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Which objects should perform these responsibilities?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Responsibility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 class KNOWS things and DOES things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8</a:t>
            </a:r>
          </a:p>
        </p:txBody>
      </p:sp>
      <p:pic>
        <p:nvPicPr>
          <p:cNvPr id="9" name="Picture 8" descr="w14_respon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Assign each responsibility to the object with the information to perform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Analysis Class -&gt; Design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Precise attributes, types, visibility,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9</a:t>
            </a:r>
          </a:p>
        </p:txBody>
      </p:sp>
      <p:pic>
        <p:nvPicPr>
          <p:cNvPr id="9" name="Picture 8" descr="w14_design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The design class is much more precise.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Visibility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UML visibility symbols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10</a:t>
            </a:r>
          </a:p>
        </p:txBody>
      </p:sp>
      <p:pic>
        <p:nvPicPr>
          <p:cNvPr id="9" name="Picture 8" descr="w14_vis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+ public · - private · # protected · ~ package.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Attributes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Know vs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Attributes = </a:t>
            </a:r>
            <a:r>
              <a:rPr sz="1700">
                <a:solidFill>
                  <a:srgbClr val="2B2626"/>
                </a:solidFill>
                <a:latin typeface="Open Sans"/>
              </a:rPr>
              <a:t>what an object knows (studentId, name, email, balance).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Operations = </a:t>
            </a:r>
            <a:r>
              <a:rPr sz="1700">
                <a:solidFill>
                  <a:srgbClr val="2B2626"/>
                </a:solidFill>
                <a:latin typeface="Open Sans"/>
              </a:rPr>
              <a:t>what an object can do (register(), withdraw(), getBalance()).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Example: </a:t>
            </a:r>
            <a:r>
              <a:rPr sz="1700">
                <a:solidFill>
                  <a:srgbClr val="2B2626"/>
                </a:solidFill>
                <a:latin typeface="Open Sans"/>
              </a:rPr>
              <a:t>BankAccount -accountNumber, -balance; +deposit(), +withdraw(), +getBalance().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Attributes store information; operations perform actions.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Sequence Diagram -&gt; Class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Messages reveal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12</a:t>
            </a:r>
          </a:p>
        </p:txBody>
      </p:sp>
      <p:pic>
        <p:nvPicPr>
          <p:cNvPr id="9" name="Picture 8" descr="w14_sequence_to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Course -&gt; checkCapacity() means Course needs checkCapacity().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Model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diagrams must agree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13</a:t>
            </a:r>
          </a:p>
        </p:txBody>
      </p:sp>
      <p:pic>
        <p:nvPicPr>
          <p:cNvPr id="9" name="Picture 8" descr="w14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checkCapacity() vs verifyCapacity() — resolve the discrepancy.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Object Model + Dynamic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Operations relate to state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14</a:t>
            </a:r>
          </a:p>
        </p:txBody>
      </p:sp>
      <p:pic>
        <p:nvPicPr>
          <p:cNvPr id="9" name="Picture 8" descr="w14_object_dyna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registerStudent() causes Available -&gt; Full at the final seat.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Object Model + Activity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Map activities to responsible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15</a:t>
            </a:r>
          </a:p>
        </p:txBody>
      </p:sp>
      <p:pic>
        <p:nvPicPr>
          <p:cNvPr id="9" name="Picture 8" descr="w14_activity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This turns a behavioural model into design responsibilities.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Controller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Coordinates — does not do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16</a:t>
            </a:r>
          </a:p>
        </p:txBody>
      </p:sp>
      <p:pic>
        <p:nvPicPr>
          <p:cNvPr id="9" name="Picture 8" descr="w14_controll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Avoid the God class: the controller delegates to the service.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Domain Objects Own Domain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Course knows if it is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17</a:t>
            </a:r>
          </a:p>
        </p:txBody>
      </p:sp>
      <p:pic>
        <p:nvPicPr>
          <p:cNvPr id="9" name="Picture 8" descr="w14_domain_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Course.isAvailable() / hasCapacity() instead of rules in every UI.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Designing for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Boundaries around what is likely to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18</a:t>
            </a:r>
          </a:p>
        </p:txBody>
      </p:sp>
      <p:pic>
        <p:nvPicPr>
          <p:cNvPr id="9" name="Picture 8" descr="w14_design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RegistrationService -&gt; PaymentGateway, not -&gt; AirtelMoneyAPI.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Design Patterns (outline):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One abstraction, many implementations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19</a:t>
            </a:r>
          </a:p>
        </p:txBody>
      </p:sp>
      <p:pic>
        <p:nvPicPr>
          <p:cNvPr id="9" name="Picture 8" descr="w14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527" y="1463040"/>
            <a:ext cx="9692640" cy="496170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Use patterns only when they solve an actual recurring problem.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The Integrated Design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Controller -&gt; Service -&gt; Domain -&gt;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20</a:t>
            </a:r>
          </a:p>
        </p:txBody>
      </p:sp>
      <p:pic>
        <p:nvPicPr>
          <p:cNvPr id="9" name="Picture 8" descr="w14_integrated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967" y="1371600"/>
            <a:ext cx="9509760" cy="5320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That is what it means to integrate the models.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Model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Eight questions to check your 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Does every use case </a:t>
            </a:r>
            <a:r>
              <a:rPr sz="1600">
                <a:solidFill>
                  <a:srgbClr val="2B2626"/>
                </a:solidFill>
                <a:latin typeface="Open Sans"/>
              </a:rPr>
              <a:t>have supporting classes?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Does every sequence message </a:t>
            </a:r>
            <a:r>
              <a:rPr sz="1600">
                <a:solidFill>
                  <a:srgbClr val="2B2626"/>
                </a:solidFill>
                <a:latin typeface="Open Sans"/>
              </a:rPr>
              <a:t>correspond to an operation?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Do operations </a:t>
            </a:r>
            <a:r>
              <a:rPr sz="1600">
                <a:solidFill>
                  <a:srgbClr val="2B2626"/>
                </a:solidFill>
                <a:latin typeface="Open Sans"/>
              </a:rPr>
              <a:t>belong to sensible classes?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Do state changes </a:t>
            </a:r>
            <a:r>
              <a:rPr sz="1600">
                <a:solidFill>
                  <a:srgbClr val="2B2626"/>
                </a:solidFill>
                <a:latin typeface="Open Sans"/>
              </a:rPr>
              <a:t>correspond to actual events/operations?</a:t>
            </a:r>
          </a:p>
          <a:p>
            <a:pPr>
              <a:lnSpc>
                <a:spcPct val="106000"/>
              </a:lnSpc>
              <a:spcAft>
                <a:spcPts val="1300"/>
              </a:spcAft>
            </a:pPr>
            <a:r>
              <a:rPr sz="16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600" b="1">
                <a:solidFill>
                  <a:srgbClr val="7B1113"/>
                </a:solidFill>
                <a:latin typeface="Open Sans"/>
              </a:rPr>
              <a:t>Do activity flows </a:t>
            </a:r>
            <a:r>
              <a:rPr sz="1600">
                <a:solidFill>
                  <a:srgbClr val="2B2626"/>
                </a:solidFill>
                <a:latin typeface="Open Sans"/>
              </a:rPr>
              <a:t>agree with the use case? Any duplicated responsibilities or God classes?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If “drop courses” has no drop operation, introduce RegistrationService.dropCourse().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Common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Avoid these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Treating diagrams as independent </a:t>
            </a:r>
            <a:r>
              <a:rPr sz="1500">
                <a:solidFill>
                  <a:srgbClr val="2B2626"/>
                </a:solidFill>
                <a:latin typeface="Open Sans"/>
              </a:rPr>
              <a:t>— the sequence explains how classes cooperate.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One class does everything </a:t>
            </a:r>
            <a:r>
              <a:rPr sz="1500">
                <a:solidFill>
                  <a:srgbClr val="2B2626"/>
                </a:solidFill>
                <a:latin typeface="Open Sans"/>
              </a:rPr>
              <a:t>— poor responsibility assignment.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Confusing analysis and design </a:t>
            </a:r>
            <a:r>
              <a:rPr sz="1500">
                <a:solidFill>
                  <a:srgbClr val="2B2626"/>
                </a:solidFill>
                <a:latin typeface="Open Sans"/>
              </a:rPr>
              <a:t>— what is needed vs how it is implemented.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Classes without justification </a:t>
            </a:r>
            <a:r>
              <a:rPr sz="1500">
                <a:solidFill>
                  <a:srgbClr val="2B2626"/>
                </a:solidFill>
                <a:latin typeface="Open Sans"/>
              </a:rPr>
              <a:t>— every design class needs a reason.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5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500" b="1">
                <a:solidFill>
                  <a:srgbClr val="7B1113"/>
                </a:solidFill>
                <a:latin typeface="Open Sans"/>
              </a:rPr>
              <a:t>Ignoring consistency </a:t>
            </a:r>
            <a:r>
              <a:rPr sz="1500">
                <a:solidFill>
                  <a:srgbClr val="2B2626"/>
                </a:solidFill>
                <a:latin typeface="Open Sans"/>
              </a:rPr>
              <a:t>— register() vs enrolStudent() must be reconciled.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Five classic traps in examination answers.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B11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9692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Poppins"/>
              </a:rPr>
              <a:t>Week 14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8368"/>
            <a:ext cx="9692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4C97C"/>
                </a:solidFill>
                <a:latin typeface="Open Sans"/>
              </a:rPr>
              <a:t>The most important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BICT 3202 · Object-Oriented Analysis and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B"/>
                </a:solidFill>
                <a:latin typeface="Open Sans"/>
              </a:rPr>
              <a:t>Week 14 · Slide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1. </a:t>
            </a:r>
            <a:r>
              <a:rPr sz="1700">
                <a:solidFill>
                  <a:srgbClr val="2B2626"/>
                </a:solidFill>
                <a:latin typeface="Open Sans"/>
              </a:rPr>
              <a:t>Requirement -&gt; use case -&gt; scenario -&gt; sequence -&gt; classes -&gt; responsibilities -&gt; design -&gt; implementation.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2. </a:t>
            </a:r>
            <a:r>
              <a:rPr sz="1700">
                <a:solidFill>
                  <a:srgbClr val="2B2626"/>
                </a:solidFill>
                <a:latin typeface="Open Sans"/>
              </a:rPr>
              <a:t>Class model &lt;- dynamic model &lt;- behavioural model.</a:t>
            </a:r>
          </a:p>
          <a:p>
            <a:pPr>
              <a:lnSpc>
                <a:spcPct val="106000"/>
              </a:lnSpc>
              <a:spcAft>
                <a:spcPts val="1400"/>
              </a:spcAft>
            </a:pPr>
            <a:r>
              <a:rPr sz="17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700" b="1">
                <a:solidFill>
                  <a:srgbClr val="7B1113"/>
                </a:solidFill>
                <a:latin typeface="Open Sans"/>
              </a:rPr>
              <a:t>3. </a:t>
            </a:r>
            <a:r>
              <a:rPr sz="1700">
                <a:solidFill>
                  <a:srgbClr val="2B2626"/>
                </a:solidFill>
                <a:latin typeface="Open Sans"/>
              </a:rPr>
              <a:t>The models must support one another, not contradict one another.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989320"/>
            <a:ext cx="10545775" cy="457200"/>
          </a:xfrm>
          <a:prstGeom prst="roundRect">
            <a:avLst/>
          </a:prstGeom>
          <a:solidFill>
            <a:srgbClr val="590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99971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That is the central lesson of Week 14.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7B1113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C9A227"/>
                </a:solidFill>
                <a:latin typeface="Poppins"/>
              </a:rPr>
              <a:t>REVISION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Refine Student/Course/Registration into full design classes with visibility and signatures.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Draw the sequence and state models for “Register for Course” and cross-check them.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Map each registration activity to a responsible class.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800" b="1">
                <a:solidFill>
                  <a:srgbClr val="7B1113"/>
                </a:solidFill>
                <a:latin typeface="Open Sans"/>
              </a:rPr>
              <a:t>▪  </a:t>
            </a:r>
            <a:r>
              <a:rPr sz="1800">
                <a:solidFill>
                  <a:srgbClr val="FAF6EC"/>
                </a:solidFill>
                <a:latin typeface="Open Sans"/>
              </a:rPr>
              <a:t>Next week: complete OOAD case study, model integration and CASE-tool implementation.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E4C97C"/>
                </a:solidFill>
                <a:latin typeface="Open Sans"/>
              </a:rPr>
              <a:t>Thank you — Francis Fweta · ICT Lecturer · Exploits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