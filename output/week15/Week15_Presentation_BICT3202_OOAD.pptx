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solidFill>
            <a:srgbClr val="7B1113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577840"/>
            <a:ext cx="12191695" cy="1280160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u_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8607" y="685800"/>
            <a:ext cx="1554480" cy="1554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377440"/>
            <a:ext cx="112772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E4C97C"/>
                </a:solidFill>
                <a:latin typeface="Poppins"/>
              </a:rPr>
              <a:t>EXPLOITS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FAF6EC"/>
                </a:solidFill>
                <a:latin typeface="Open Sans"/>
              </a:rPr>
              <a:t>BSc INFORMATION COMMUNICATION AND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2044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C9A227"/>
                </a:solidFill>
                <a:latin typeface="Poppins"/>
              </a:rPr>
              <a:t>BICT 3202 · OBJECT-ORIENTED ANALYSIS AND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112772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Poppins"/>
              </a:rPr>
              <a:t>WEEK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92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FAF6EC"/>
                </a:solidFill>
                <a:latin typeface="Poppins"/>
              </a:rPr>
              <a:t>Complete OOAD Case Study, Model Integration and CASE Tool Implementation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80644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Francis Fweta  ·  ICT Lecturer  ·  Week 15 of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By the end of this week, you should be able to…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15 · Slide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Analyse </a:t>
            </a:r>
            <a:r>
              <a:rPr sz="1600">
                <a:solidFill>
                  <a:srgbClr val="2B2626"/>
                </a:solidFill>
                <a:latin typeface="Open Sans"/>
              </a:rPr>
              <a:t>a complete software problem using OO techniques.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Extract </a:t>
            </a:r>
            <a:r>
              <a:rPr sz="1600">
                <a:solidFill>
                  <a:srgbClr val="2B2626"/>
                </a:solidFill>
                <a:latin typeface="Open Sans"/>
              </a:rPr>
              <a:t>actors, functional and non-functional requirements.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Build </a:t>
            </a:r>
            <a:r>
              <a:rPr sz="1600">
                <a:solidFill>
                  <a:srgbClr val="2B2626"/>
                </a:solidFill>
                <a:latin typeface="Open Sans"/>
              </a:rPr>
              <a:t>use-case, class, interaction, activity, state and component models.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Refine </a:t>
            </a:r>
            <a:r>
              <a:rPr sz="1600">
                <a:solidFill>
                  <a:srgbClr val="2B2626"/>
                </a:solidFill>
                <a:latin typeface="Open Sans"/>
              </a:rPr>
              <a:t>the analysis model into a design model with responsibilities.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Check </a:t>
            </a:r>
            <a:r>
              <a:rPr sz="1600">
                <a:solidFill>
                  <a:srgbClr val="2B2626"/>
                </a:solidFill>
                <a:latin typeface="Open Sans"/>
              </a:rPr>
              <a:t>consistency between the UML models.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Document </a:t>
            </a:r>
            <a:r>
              <a:rPr sz="1600">
                <a:solidFill>
                  <a:srgbClr val="2B2626"/>
                </a:solidFill>
                <a:latin typeface="Open Sans"/>
              </a:rPr>
              <a:t>a complete OOAD solution and use a CASE/UML tool.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Explain </a:t>
            </a:r>
            <a:r>
              <a:rPr sz="1600">
                <a:solidFill>
                  <a:srgbClr val="2B2626"/>
                </a:solidFill>
                <a:latin typeface="Open Sans"/>
              </a:rPr>
              <a:t>how the final design could be implemented.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The diagrams must tell one consistent story and guide implementation.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Week 14 → Week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From understanding to a complete 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15 · Slide 2</a:t>
            </a:r>
          </a:p>
        </p:txBody>
      </p:sp>
      <p:pic>
        <p:nvPicPr>
          <p:cNvPr id="9" name="Picture 8" descr="w15_pro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Week 15 applies Weeks 1–14 to one complete 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The OOAD 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The whole module in one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15 · Slide 3</a:t>
            </a:r>
          </a:p>
        </p:txBody>
      </p:sp>
      <p:pic>
        <p:nvPicPr>
          <p:cNvPr id="9" name="Picture 8" descr="w15_pro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407" y="1371600"/>
            <a:ext cx="9326880" cy="521861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The most important word: INTEGRATION.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Why Integration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Three ways a model can go wrong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15 · Slide 4</a:t>
            </a:r>
          </a:p>
        </p:txBody>
      </p:sp>
      <p:pic>
        <p:nvPicPr>
          <p:cNvPr id="9" name="Picture 8" descr="w15_consis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A good OOAD model must be internally consistent.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The Business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University course registration — the pain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15 · Slide 5</a:t>
            </a:r>
          </a:p>
        </p:txBody>
      </p:sp>
      <p:pic>
        <p:nvPicPr>
          <p:cNvPr id="9" name="Picture 8" descr="w15_business_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Students register online; administrators manage courses and reports.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Functional vs non-functional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15 · Slide 6</a:t>
            </a:r>
          </a:p>
        </p:txBody>
      </p:sp>
      <p:pic>
        <p:nvPicPr>
          <p:cNvPr id="9" name="Picture 8" descr="w15_require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FR = what it does · NFR = how well it operates.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Actors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External roles — human or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15 · Slide 7</a:t>
            </a:r>
          </a:p>
        </p:txBody>
      </p:sp>
      <p:pic>
        <p:nvPicPr>
          <p:cNvPr id="9" name="Picture 8" descr="w15_ac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Student · Administrator · Lecturer · Notification Service · Payment Gateway.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Use-Case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Student and Administrator goals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15 · Slide 8</a:t>
            </a:r>
          </a:p>
        </p:txBody>
      </p:sp>
      <p:pic>
        <p:nvPicPr>
          <p:cNvPr id="9" name="Picture 8" descr="w15_use_cas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Produce the exact notation with a UML tool in the practical.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Use Case: Register for Course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Do not stop at the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15 · Slide 9</a:t>
            </a:r>
          </a:p>
        </p:txBody>
      </p:sp>
      <p:pic>
        <p:nvPicPr>
          <p:cNvPr id="9" name="Picture 8" descr="w15_use_case_sp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967" y="1371600"/>
            <a:ext cx="9509760" cy="532093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Document the main scenario AND the alternative flows.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Candidate Classes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Domain vs technical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15 · Slide 10</a:t>
            </a:r>
          </a:p>
        </p:txBody>
      </p:sp>
      <p:pic>
        <p:nvPicPr>
          <p:cNvPr id="9" name="Picture 8" descr="w15_candidate_cla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Domain = the problem · Technical = the implementation support.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The Class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Controller → Service → Domain → Repository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15 · Slide 11</a:t>
            </a:r>
          </a:p>
        </p:txBody>
      </p:sp>
      <p:pic>
        <p:nvPicPr>
          <p:cNvPr id="9" name="Picture 8" descr="w15_class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687" y="1371600"/>
            <a:ext cx="9418320" cy="526977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From “register a course” to an implementation-ready design.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Associations &amp; Multiplicity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Reading the numbers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15 · Slide 12</a:t>
            </a:r>
          </a:p>
        </p:txBody>
      </p:sp>
      <p:pic>
        <p:nvPicPr>
          <p:cNvPr id="9" name="Picture 8" descr="w15_associ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Student 1 — 0..* Registration — 0..* 1 Course.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Inheritance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A shared User abstraction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15 · Slide 13</a:t>
            </a:r>
          </a:p>
        </p:txBody>
      </p:sp>
      <p:pic>
        <p:nvPicPr>
          <p:cNvPr id="9" name="Picture 8" descr="w15_inheri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Use inheritance only when it is genuinely appropriate.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Sequence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Which object talks to which, in what 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15 · Slide 14</a:t>
            </a:r>
          </a:p>
        </p:txBody>
      </p:sp>
      <p:pic>
        <p:nvPicPr>
          <p:cNvPr id="9" name="Picture 8" descr="w15_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967" y="1371600"/>
            <a:ext cx="9509760" cy="532093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Class diagram = what exists · Sequence = how they cooperate.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State Machine: Course Lifecycle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States and their triggering events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15 · Slide 15</a:t>
            </a:r>
          </a:p>
        </p:txBody>
      </p:sp>
      <p:pic>
        <p:nvPicPr>
          <p:cNvPr id="9" name="Picture 8" descr="w15_state_mach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967" y="1371600"/>
            <a:ext cx="9509760" cy="532093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The state machine explains WHY the status changes.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Activity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The registration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15 · Slide 16</a:t>
            </a:r>
          </a:p>
        </p:txBody>
      </p:sp>
      <p:pic>
        <p:nvPicPr>
          <p:cNvPr id="9" name="Picture 8" descr="w15_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967" y="1371600"/>
            <a:ext cx="9509760" cy="532093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Decisions: prerequisite satisfied? space available?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Components &amp; Layers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Presentation → Application → Domain → Persistence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15 · Slide 17</a:t>
            </a:r>
          </a:p>
        </p:txBody>
      </p:sp>
      <p:pic>
        <p:nvPicPr>
          <p:cNvPr id="9" name="Picture 8" descr="w15_compon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967" y="1371600"/>
            <a:ext cx="9509760" cy="532093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Connects directly with the architecture covered earlier.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Model Traceability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Following one requirement through the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15 · Slide 18</a:t>
            </a:r>
          </a:p>
        </p:txBody>
      </p:sp>
      <p:pic>
        <p:nvPicPr>
          <p:cNvPr id="9" name="Picture 8" descr="w15_trace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967" y="1371600"/>
            <a:ext cx="9509760" cy="532093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The exact language does not change the OOAD principle.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The Model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Six consistency checks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15 · Slide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Use Case ↔ Class: </a:t>
            </a:r>
            <a:r>
              <a:rPr sz="1600">
                <a:solidFill>
                  <a:srgbClr val="2B2626"/>
                </a:solidFill>
                <a:latin typeface="Open Sans"/>
              </a:rPr>
              <a:t>does every use case have supporting classes?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Class ↔ Sequence: </a:t>
            </a:r>
            <a:r>
              <a:rPr sz="1600">
                <a:solidFill>
                  <a:srgbClr val="2B2626"/>
                </a:solidFill>
                <a:latin typeface="Open Sans"/>
              </a:rPr>
              <a:t>does every message match an operation?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Sequence ↔ State: </a:t>
            </a:r>
            <a:r>
              <a:rPr sz="1600">
                <a:solidFill>
                  <a:srgbClr val="2B2626"/>
                </a:solidFill>
                <a:latin typeface="Open Sans"/>
              </a:rPr>
              <a:t>do messages cause the right transitions?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Activity ↔ Sequence: </a:t>
            </a:r>
            <a:r>
              <a:rPr sz="1600">
                <a:solidFill>
                  <a:srgbClr val="2B2626"/>
                </a:solidFill>
                <a:latin typeface="Open Sans"/>
              </a:rPr>
              <a:t>does the workflow match the interaction?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Class ↔ Component: </a:t>
            </a:r>
            <a:r>
              <a:rPr sz="1600">
                <a:solidFill>
                  <a:srgbClr val="2B2626"/>
                </a:solidFill>
                <a:latin typeface="Open Sans"/>
              </a:rPr>
              <a:t>are classes sensibly allocated?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Requirements ↔ Design: </a:t>
            </a:r>
            <a:r>
              <a:rPr sz="1600">
                <a:solidFill>
                  <a:srgbClr val="2B2626"/>
                </a:solidFill>
                <a:latin typeface="Open Sans"/>
              </a:rPr>
              <a:t>can each requirement be traced in?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“Check payment” with no payment class = something is missing.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Complete OOAD Documentation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What the document contains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15 · Slide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5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500" b="1">
                <a:solidFill>
                  <a:srgbClr val="7B1113"/>
                </a:solidFill>
                <a:latin typeface="Open Sans"/>
              </a:rPr>
              <a:t>1. Introduction </a:t>
            </a:r>
            <a:r>
              <a:rPr sz="1500">
                <a:solidFill>
                  <a:srgbClr val="2B2626"/>
                </a:solidFill>
                <a:latin typeface="Open Sans"/>
              </a:rPr>
              <a:t>· 2. Requirements · 3. Actors · 4. Use cases · 5. Use-case diagram.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5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500" b="1">
                <a:solidFill>
                  <a:srgbClr val="7B1113"/>
                </a:solidFill>
                <a:latin typeface="Open Sans"/>
              </a:rPr>
              <a:t>6. Domain/class model </a:t>
            </a:r>
            <a:r>
              <a:rPr sz="1500">
                <a:solidFill>
                  <a:srgbClr val="2B2626"/>
                </a:solidFill>
                <a:latin typeface="Open Sans"/>
              </a:rPr>
              <a:t>· 7. Interaction models · 8. Dynamic model · 9. Activity model.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5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500" b="1">
                <a:solidFill>
                  <a:srgbClr val="7B1113"/>
                </a:solidFill>
                <a:latin typeface="Open Sans"/>
              </a:rPr>
              <a:t>10. Design </a:t>
            </a:r>
            <a:r>
              <a:rPr sz="1500">
                <a:solidFill>
                  <a:srgbClr val="2B2626"/>
                </a:solidFill>
                <a:latin typeface="Open Sans"/>
              </a:rPr>
              <a:t>· 11. Architecture · 12. Model validation · 13. Conclusion.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A professional analysis/design document is complete and consistent.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CASE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Computer-Aided Software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15 · Slide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Why: </a:t>
            </a:r>
            <a:r>
              <a:rPr sz="1600">
                <a:solidFill>
                  <a:srgbClr val="2B2626"/>
                </a:solidFill>
                <a:latin typeface="Open Sans"/>
              </a:rPr>
              <a:t>diagram editing, model repositories, documentation, consistency, code engineering.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Examples: </a:t>
            </a:r>
            <a:r>
              <a:rPr sz="1600">
                <a:solidFill>
                  <a:srgbClr val="2B2626"/>
                </a:solidFill>
                <a:latin typeface="Open Sans"/>
              </a:rPr>
              <a:t>Enterprise Architect · Visual Paradigm · StarUML · Modelio · diagrams.net.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Course outline: </a:t>
            </a:r>
            <a:r>
              <a:rPr sz="1600">
                <a:solidFill>
                  <a:srgbClr val="2B2626"/>
                </a:solidFill>
                <a:latin typeface="Open Sans"/>
              </a:rPr>
              <a:t>CASE Tool — Select Enterprise Demonstration.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The tool matters less than understanding the modelling principles.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The Tool Does Not Do the Thinking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Four classic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15 · Slide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5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500" b="1">
                <a:solidFill>
                  <a:srgbClr val="7B1113"/>
                </a:solidFill>
                <a:latin typeface="Open Sans"/>
              </a:rPr>
              <a:t>Diagrams without requirements </a:t>
            </a:r>
            <a:r>
              <a:rPr sz="1500">
                <a:solidFill>
                  <a:srgbClr val="2B2626"/>
                </a:solidFill>
                <a:latin typeface="Open Sans"/>
              </a:rPr>
              <a:t>— follow the correct order.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5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500" b="1">
                <a:solidFill>
                  <a:srgbClr val="7B1113"/>
                </a:solidFill>
                <a:latin typeface="Open Sans"/>
              </a:rPr>
              <a:t>Too many classes </a:t>
            </a:r>
            <a:r>
              <a:rPr sz="1500">
                <a:solidFill>
                  <a:srgbClr val="2B2626"/>
                </a:solidFill>
                <a:latin typeface="Open Sans"/>
              </a:rPr>
              <a:t>— Manager/Processor/Handler/Helper without justification.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5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500" b="1">
                <a:solidFill>
                  <a:srgbClr val="7B1113"/>
                </a:solidFill>
                <a:latin typeface="Open Sans"/>
              </a:rPr>
              <a:t>Copying diagrams </a:t>
            </a:r>
            <a:r>
              <a:rPr sz="1500">
                <a:solidFill>
                  <a:srgbClr val="2B2626"/>
                </a:solidFill>
                <a:latin typeface="Open Sans"/>
              </a:rPr>
              <a:t>— the model must represent YOUR system.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5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500" b="1">
                <a:solidFill>
                  <a:srgbClr val="7B1113"/>
                </a:solidFill>
                <a:latin typeface="Open Sans"/>
              </a:rPr>
              <a:t>Inconsistent naming </a:t>
            </a:r>
            <a:r>
              <a:rPr sz="1500">
                <a:solidFill>
                  <a:srgbClr val="2B2626"/>
                </a:solidFill>
                <a:latin typeface="Open Sans"/>
              </a:rPr>
              <a:t>— Registration vs Enrollment vs CourseSignup.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Understand Problem → Model → Design, then use the tool.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The Complete OOAD 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The big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15 · Slide 23</a:t>
            </a:r>
          </a:p>
        </p:txBody>
      </p:sp>
      <p:pic>
        <p:nvPicPr>
          <p:cNvPr id="9" name="Picture 8" descr="w15_integ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542326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Actors → Use cases → Analysis → Class/Dynamic/Behaviour → Design → Implementation.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Week 15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The most important lesson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15 · Slide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1. </a:t>
            </a:r>
            <a:r>
              <a:rPr sz="1600">
                <a:solidFill>
                  <a:srgbClr val="2B2626"/>
                </a:solidFill>
                <a:latin typeface="Open Sans"/>
              </a:rPr>
              <a:t>OOAD is not about drawing many diagrams — it is about a coherent model.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2. </a:t>
            </a:r>
            <a:r>
              <a:rPr sz="1600">
                <a:solidFill>
                  <a:srgbClr val="2B2626"/>
                </a:solidFill>
                <a:latin typeface="Open Sans"/>
              </a:rPr>
              <a:t>Requirements, use cases, classes, interactions, behaviour and design support one another.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3. </a:t>
            </a:r>
            <a:r>
              <a:rPr sz="1600">
                <a:solidFill>
                  <a:srgbClr val="2B2626"/>
                </a:solidFill>
                <a:latin typeface="Open Sans"/>
              </a:rPr>
              <a:t>Requirement → Use Case → Class → Interaction → Behaviour → Design → Components → Documentation.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That is exactly what Week 15 is designed to test.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solidFill>
            <a:srgbClr val="7B1113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C9A227"/>
                </a:solidFill>
                <a:latin typeface="Poppins"/>
              </a:rPr>
              <a:t>REVISION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800">
                <a:solidFill>
                  <a:srgbClr val="FAF6EC"/>
                </a:solidFill>
                <a:latin typeface="Open Sans"/>
              </a:rPr>
              <a:t>Complete the ten-deliverable major assignment on a real information system.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800">
                <a:solidFill>
                  <a:srgbClr val="FAF6EC"/>
                </a:solidFill>
                <a:latin typeface="Open Sans"/>
              </a:rPr>
              <a:t>Cross-check your models: messages match operations, transitions have events.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800">
                <a:solidFill>
                  <a:srgbClr val="FAF6EC"/>
                </a:solidFill>
                <a:latin typeface="Open Sans"/>
              </a:rPr>
              <a:t>Use a CASE/UML tool to organise the University Registration case study.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800">
                <a:solidFill>
                  <a:srgbClr val="FAF6EC"/>
                </a:solidFill>
                <a:latin typeface="Open Sans"/>
              </a:rPr>
              <a:t>Next week: comprehensive revision and the integrated examination.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76072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Thank you — Francis Fweta · ICT Lecturer · Exploits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