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Principles of Object Modelling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2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Define object modelling </a:t>
            </a:r>
            <a:r>
              <a:rPr sz="1700">
                <a:solidFill>
                  <a:srgbClr val="2B2626"/>
                </a:solidFill>
                <a:latin typeface="Open Sans"/>
              </a:rPr>
              <a:t>and an object model.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why object models are useful in analysis.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Relate </a:t>
            </a:r>
            <a:r>
              <a:rPr sz="1700">
                <a:solidFill>
                  <a:srgbClr val="2B2626"/>
                </a:solidFill>
                <a:latin typeface="Open Sans"/>
              </a:rPr>
              <a:t>object → class → object model.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Identify objects </a:t>
            </a:r>
            <a:r>
              <a:rPr sz="1700">
                <a:solidFill>
                  <a:srgbClr val="2B2626"/>
                </a:solidFill>
                <a:latin typeface="Open Sans"/>
              </a:rPr>
              <a:t>in a problem domain — and reject irrelevant nouns.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Identify </a:t>
            </a:r>
            <a:r>
              <a:rPr sz="1700">
                <a:solidFill>
                  <a:srgbClr val="2B2626"/>
                </a:solidFill>
                <a:latin typeface="Open Sans"/>
              </a:rPr>
              <a:t>attributes, behaviours and relationships of objects.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identity, abstraction and encapsulation in modelling.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Show how models </a:t>
            </a:r>
            <a:r>
              <a:rPr sz="1700">
                <a:solidFill>
                  <a:srgbClr val="2B2626"/>
                </a:solidFill>
                <a:latin typeface="Open Sans"/>
              </a:rPr>
              <a:t>manage system complexity.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Build </a:t>
            </a:r>
            <a:r>
              <a:rPr sz="1700">
                <a:solidFill>
                  <a:srgbClr val="2B2626"/>
                </a:solidFill>
                <a:latin typeface="Open Sans"/>
              </a:rPr>
              <a:t>a conceptual object model from a text description.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Modelling is simplification — keep what matters, hide the 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From the Real World to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object model is the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2</a:t>
            </a:r>
          </a:p>
        </p:txBody>
      </p:sp>
      <p:pic>
        <p:nvPicPr>
          <p:cNvPr id="9" name="Picture 8" descr="w2_real_to_soft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Real world → object model → analysis → design →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Is an Object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Objects, characteristics, behaviour and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3</a:t>
            </a:r>
          </a:p>
        </p:txBody>
      </p:sp>
      <p:pic>
        <p:nvPicPr>
          <p:cNvPr id="9" name="Picture 8" descr="w2_objec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50876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— registers for — Course: a simplified, purposeful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Nine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ideas that guide object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4</a:t>
            </a:r>
          </a:p>
        </p:txBody>
      </p:sp>
      <p:pic>
        <p:nvPicPr>
          <p:cNvPr id="9" name="Picture 8" descr="w2_princ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Abstraction · Encapsulation · Identity · State · Behaviour · Relationships · Modularity · Hierarchy · Reuse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Abstraction Depends on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same Student, modelled three 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5</a:t>
            </a:r>
          </a:p>
        </p:txBody>
      </p:sp>
      <p:pic>
        <p:nvPicPr>
          <p:cNvPr id="9" name="Picture 8" descr="w2_abs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Keep only the characteristics the system actually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Identity vs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Two “Francis” students — different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6</a:t>
            </a:r>
          </a:p>
        </p:txBody>
      </p:sp>
      <p:pic>
        <p:nvPicPr>
          <p:cNvPr id="9" name="Picture 8" descr="w2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55448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Identity = student ID, account number, UUID or primary key.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 · Behaviour ·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it is, what it does, how it connects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State </a:t>
            </a:r>
            <a:r>
              <a:rPr sz="1700">
                <a:solidFill>
                  <a:srgbClr val="2B2626"/>
                </a:solidFill>
                <a:latin typeface="Open Sans"/>
              </a:rPr>
              <a:t>— values describing current condition (Status: Active → Graduated).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Behaviour </a:t>
            </a:r>
            <a:r>
              <a:rPr sz="1700">
                <a:solidFill>
                  <a:srgbClr val="2B2626"/>
                </a:solidFill>
                <a:latin typeface="Open Sans"/>
              </a:rPr>
              <a:t>— what it can do (registerCourse(), payFees()).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Identity </a:t>
            </a:r>
            <a:r>
              <a:rPr sz="1700">
                <a:solidFill>
                  <a:srgbClr val="2B2626"/>
                </a:solidFill>
                <a:latin typeface="Open Sans"/>
              </a:rPr>
              <a:t>— distinguishes it from every other object.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Relationships </a:t>
            </a:r>
            <a:r>
              <a:rPr sz="1700">
                <a:solidFill>
                  <a:srgbClr val="2B2626"/>
                </a:solidFill>
                <a:latin typeface="Open Sans"/>
              </a:rPr>
              <a:t>— Student—registers for—Course; Customer—owns—Account.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Student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  studentID · name · programme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  registerCourse() · dropCourse()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Course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  courseCode · courseName · credits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  checkAvailability()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 object = identity + state + behaviour, linked to others by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Object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noun technique — and why nouns are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Candidate ≠ final object. </a:t>
            </a:r>
            <a:r>
              <a:rPr sz="1700">
                <a:solidFill>
                  <a:srgbClr val="2B2626"/>
                </a:solidFill>
                <a:latin typeface="Open Sans"/>
              </a:rPr>
              <a:t>Underline nouns, then analyse.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>
                <a:solidFill>
                  <a:srgbClr val="2B2626"/>
                </a:solidFill>
                <a:latin typeface="Open Sans"/>
              </a:rPr>
              <a:t>“A student uses a mobile phone to register for a course.” → Student, Course… but Phone?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Judge, don't just parse grammar: </a:t>
            </a:r>
            <a:r>
              <a:rPr sz="1700">
                <a:solidFill>
                  <a:srgbClr val="2B2626"/>
                </a:solidFill>
                <a:latin typeface="Open Sans"/>
              </a:rPr>
              <a:t>scope, information, behaviour, identity, relationships.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>
                <a:solidFill>
                  <a:srgbClr val="2B2626"/>
                </a:solidFill>
                <a:latin typeface="Open Sans"/>
              </a:rPr>
              <a:t>Events can be objects — Payment, Registration, Appointment,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Object identification is analytical reasoning, not noun extraction.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Classifying Candidates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families of domain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9</a:t>
            </a:r>
          </a:p>
        </p:txBody>
      </p:sp>
      <p:pic>
        <p:nvPicPr>
          <p:cNvPr id="9" name="Picture 8" descr="w2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508760"/>
            <a:ext cx="9875520" cy="505532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People · Physical · Places · Events · Documents · Conceptual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Does It Deserve to Be an Object?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Seven questions for each 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10</a:t>
            </a:r>
          </a:p>
        </p:txBody>
      </p:sp>
      <p:pic>
        <p:nvPicPr>
          <p:cNvPr id="9" name="Picture 8" descr="w2_decision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Several “yes” answers = a strong candidate.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Object or Attribute?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It depends on the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11</a:t>
            </a:r>
          </a:p>
        </p:txBody>
      </p:sp>
      <p:pic>
        <p:nvPicPr>
          <p:cNvPr id="9" name="Picture 8" descr="w2_object_vs_attrib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phoneNumber is an attribute — until you must track type, verification and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Cohesion &amp; 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Keep duties related, dependencies controlled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12</a:t>
            </a:r>
          </a:p>
        </p:txBody>
      </p:sp>
      <p:pic>
        <p:nvPicPr>
          <p:cNvPr id="9" name="Picture 8" descr="w2_coh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Aim for high cohesion + manageable coupling.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Managing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techniques for large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13</a:t>
            </a:r>
          </a:p>
        </p:txBody>
      </p:sp>
      <p:pic>
        <p:nvPicPr>
          <p:cNvPr id="9" name="Picture 8" descr="w2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Abstraction · Decomposition · Hierarchy · Encapsulation · Modularity · Separation of concerns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Poor Model vs Good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Don't build a “God object”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14</a:t>
            </a:r>
          </a:p>
        </p:txBody>
      </p:sp>
      <p:pic>
        <p:nvPicPr>
          <p:cNvPr id="9" name="Picture 8" descr="w2_poor_vs_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Separate Academic, Finance and Examination — one box is not a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Modelling Viewpoints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angle is never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15</a:t>
            </a:r>
          </a:p>
        </p:txBody>
      </p:sp>
      <p:pic>
        <p:nvPicPr>
          <p:cNvPr id="9" name="Picture 8" descr="w2_view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508760"/>
            <a:ext cx="9875520" cy="470262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Structural · Behavioural · Interaction ·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Standards for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Why UML — and why standards don't replace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UML (Unified Modeling Language) </a:t>
            </a:r>
            <a:r>
              <a:rPr sz="1700">
                <a:solidFill>
                  <a:srgbClr val="2B2626"/>
                </a:solidFill>
                <a:latin typeface="Open Sans"/>
              </a:rPr>
              <a:t>— the OMG standard; current formal spec is UML 2.5.1.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>
                <a:solidFill>
                  <a:srgbClr val="2B2626"/>
                </a:solidFill>
                <a:latin typeface="Open Sans"/>
              </a:rPr>
              <a:t>Standard notation gives agreed meaning — no personal drawing styles.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But correct notation ≠ correct analysis. </a:t>
            </a:r>
            <a:r>
              <a:rPr sz="1700">
                <a:solidFill>
                  <a:srgbClr val="2B2626"/>
                </a:solidFill>
                <a:latin typeface="Open Sans"/>
              </a:rPr>
              <a:t>“Student owns Toilet” is valid UML, meaningless modelling.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>
                <a:solidFill>
                  <a:srgbClr val="2B2626"/>
                </a:solidFill>
                <a:latin typeface="Open Sans"/>
              </a:rPr>
              <a:t>Good modelling = understand business + requirements + right concepts + right notation.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is the language; object modelling is the thinking.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Worked Example — Mobile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candidates to a first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17</a:t>
            </a:r>
          </a:p>
        </p:txBody>
      </p:sp>
      <p:pic>
        <p:nvPicPr>
          <p:cNvPr id="9" name="Picture 8" descr="w2_mobile_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Phone → attribute · Money → value · Network → infrastructure · SMS → external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Mini Case Study — Online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Candidate objects and their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18</a:t>
            </a:r>
          </a:p>
        </p:txBody>
      </p:sp>
      <p:pic>
        <p:nvPicPr>
          <p:cNvPr id="9" name="Picture 8" descr="w2_librar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Is “Library” an object? Only if the system manages branches/locations/staff.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Identification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10-step process for exam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19</a:t>
            </a:r>
          </a:p>
        </p:txBody>
      </p:sp>
      <p:pic>
        <p:nvPicPr>
          <p:cNvPr id="9" name="Picture 8" descr="w2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1732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Read → underline nouns → candidates → filter → attributes → behaviour → relationships → verify.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Practical &amp;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Apply Week 2 to real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Practical — hospital appointments: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Identify candidates (Patient, Doctor, Appointment, Receptionist, Specialty)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attributes (patientID, doctorID, appointmentID…)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behaviours (request, schedule, cancel…)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relationships (Patient—requests—Appointment…)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Justify every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Tutorial — “Is it an object?”: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Student · Name · Course · Mobile Phone · Payment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Money · University · Registration · Keyboard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Invoice · Lecturer · Internet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Classify each and justify: object / attribute / external / scope-dependent / irrelevant.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Reasoning matters more than the final label.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2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definitions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2 · Slide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Object modelling </a:t>
            </a:r>
            <a:r>
              <a:rPr sz="1600">
                <a:solidFill>
                  <a:srgbClr val="2B2626"/>
                </a:solidFill>
                <a:latin typeface="Open Sans"/>
              </a:rPr>
              <a:t>— representing a domain with objects, characteristics, behaviour and relationships.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Abstraction / Encapsulation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keep what matters; protect state behind operations.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Identity / State / Behaviour </a:t>
            </a:r>
            <a:r>
              <a:rPr sz="1600">
                <a:solidFill>
                  <a:srgbClr val="2B2626"/>
                </a:solidFill>
                <a:latin typeface="Open Sans"/>
              </a:rPr>
              <a:t>— the three parts of every object.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Object identification </a:t>
            </a:r>
            <a:r>
              <a:rPr sz="1600">
                <a:solidFill>
                  <a:srgbClr val="2B2626"/>
                </a:solidFill>
                <a:latin typeface="Open Sans"/>
              </a:rPr>
              <a:t>— judgement, not noun extraction.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Complexity </a:t>
            </a:r>
            <a:r>
              <a:rPr sz="1600">
                <a:solidFill>
                  <a:srgbClr val="2B2626"/>
                </a:solidFill>
                <a:latin typeface="Open Sans"/>
              </a:rPr>
              <a:t>— tamed by decomposition, modularity, hierarchy and separation of concerns.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UML </a:t>
            </a:r>
            <a:r>
              <a:rPr sz="1600">
                <a:solidFill>
                  <a:srgbClr val="2B2626"/>
                </a:solidFill>
                <a:latin typeface="Open Sans"/>
              </a:rPr>
              <a:t>— the standard language (2.5.1) we start in Week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Problem domain → candidate concepts → relevant objects → attributes → behaviour → relationships → model.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Attempt the revision and examination-style questions in the Week 2 module and the assignment.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Identify 15 candidate objects for a system you use daily — then filter them.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Practise the 10-step identification checklist on a past-paper scenario.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UML — the standard language for expressing the models we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