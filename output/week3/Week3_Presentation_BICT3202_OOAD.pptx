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Modelling Language — UML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3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UML </a:t>
            </a:r>
            <a:r>
              <a:rPr sz="1700">
                <a:solidFill>
                  <a:srgbClr val="2B2626"/>
                </a:solidFill>
                <a:latin typeface="Open Sans"/>
              </a:rPr>
              <a:t>and explain why it is used in OOAD.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Separate </a:t>
            </a:r>
            <a:r>
              <a:rPr sz="1700">
                <a:solidFill>
                  <a:srgbClr val="2B2626"/>
                </a:solidFill>
                <a:latin typeface="Open Sans"/>
              </a:rPr>
              <a:t>modelling language vs development methodology.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700">
                <a:solidFill>
                  <a:srgbClr val="2B2626"/>
                </a:solidFill>
                <a:latin typeface="Open Sans"/>
              </a:rPr>
              <a:t>the building blocks — things, relationships, diagrams.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Classify </a:t>
            </a:r>
            <a:r>
              <a:rPr sz="1700">
                <a:solidFill>
                  <a:srgbClr val="2B2626"/>
                </a:solidFill>
                <a:latin typeface="Open Sans"/>
              </a:rPr>
              <a:t>structural, behavioural, grouping and annotational elements.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the diagram families and their purposes.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700">
                <a:solidFill>
                  <a:srgbClr val="2B2626"/>
                </a:solidFill>
                <a:latin typeface="Open Sans"/>
              </a:rPr>
              <a:t>rules, common mechanisms and extensibility (stereotypes, tagged values, constraints).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the four-layer architecture M0–M3.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is a standard language for communicating models — not a programming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Is UML?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Unified · Modeling ·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Unified </a:t>
            </a:r>
            <a:r>
              <a:rPr sz="1700">
                <a:solidFill>
                  <a:srgbClr val="2B2626"/>
                </a:solidFill>
                <a:latin typeface="Open Sans"/>
              </a:rPr>
              <a:t>— brought together ideas from earlier OO modelling approaches.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Modeling </a:t>
            </a:r>
            <a:r>
              <a:rPr sz="1700">
                <a:solidFill>
                  <a:srgbClr val="2B2626"/>
                </a:solidFill>
                <a:latin typeface="Open Sans"/>
              </a:rPr>
              <a:t>— used to create representations of systems.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Language </a:t>
            </a:r>
            <a:r>
              <a:rPr sz="1700">
                <a:solidFill>
                  <a:srgbClr val="2B2626"/>
                </a:solidFill>
                <a:latin typeface="Open Sans"/>
              </a:rPr>
              <a:t>— defined concepts and notation for communicating those representations.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The problem it solves: </a:t>
            </a:r>
            <a:r>
              <a:rPr sz="1700">
                <a:solidFill>
                  <a:srgbClr val="2B2626"/>
                </a:solidFill>
                <a:latin typeface="Open Sans"/>
              </a:rPr>
              <a:t>five people, five different mental pictures — UML makes the structure visible.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Current specification: </a:t>
            </a:r>
            <a:r>
              <a:rPr sz="1700">
                <a:solidFill>
                  <a:srgbClr val="2B2626"/>
                </a:solidFill>
                <a:latin typeface="Open Sans"/>
              </a:rPr>
              <a:t>UML 2.5.1 (OMG, December 2017).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= visualise, specify and document systems — structure, behaviour and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UML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distinctions that examiners love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Not a programming language </a:t>
            </a:r>
            <a:r>
              <a:rPr sz="1700">
                <a:solidFill>
                  <a:srgbClr val="2B2626"/>
                </a:solidFill>
                <a:latin typeface="Open Sans"/>
              </a:rPr>
              <a:t>— Java/Python/C# execute; UML communicates models.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Not a methodology </a:t>
            </a:r>
            <a:r>
              <a:rPr sz="1700">
                <a:solidFill>
                  <a:srgbClr val="2B2626"/>
                </a:solidFill>
                <a:latin typeface="Open Sans"/>
              </a:rPr>
              <a:t>— UML says how to represent; UP/USDP says what activities to do, in what order.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Not only for software </a:t>
            </a:r>
            <a:r>
              <a:rPr sz="1700">
                <a:solidFill>
                  <a:srgbClr val="2B2626"/>
                </a:solidFill>
                <a:latin typeface="Open Sans"/>
              </a:rPr>
              <a:t>— business processes, workflows and non-software systems too.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One diagram ≠ everything </a:t>
            </a:r>
            <a:r>
              <a:rPr sz="1700">
                <a:solidFill>
                  <a:srgbClr val="2B2626"/>
                </a:solidFill>
                <a:latin typeface="Open Sans"/>
              </a:rPr>
              <a:t>— use multiple views for different perspectives.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= modelling language · UP = development process (Weeks 12–13).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Three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Things · Relationships ·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4</a:t>
            </a:r>
          </a:p>
        </p:txBody>
      </p:sp>
      <p:pic>
        <p:nvPicPr>
          <p:cNvPr id="9" name="Picture 8" descr="w3_three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classic framework of Booch, Rumbaugh and Jacobson.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Building Block 1 —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Structural · Behavioural · Grouping · Annotational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5</a:t>
            </a:r>
          </a:p>
        </p:txBody>
      </p:sp>
      <p:pic>
        <p:nvPicPr>
          <p:cNvPr id="9" name="Picture 8" descr="w3_th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What exists? · What happens? · How is it organised? · What else to note?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UML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compartments with adornments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6</a:t>
            </a:r>
          </a:p>
        </p:txBody>
      </p:sp>
      <p:pic>
        <p:nvPicPr>
          <p:cNvPr id="9" name="Picture 8" descr="w3_clas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1732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Name · Attributes · Operations  —  with − private / + public adornments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Interface &amp; Realization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contract, fulfilled by different implementations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7</a:t>
            </a:r>
          </a:p>
        </p:txBody>
      </p:sp>
      <p:pic>
        <p:nvPicPr>
          <p:cNvPr id="9" name="Picture 8" descr="w3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50876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user of an interface need not know the internal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Building Block 2 —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Association · Dependency · Generalization · Realization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8</a:t>
            </a:r>
          </a:p>
        </p:txBody>
      </p:sp>
      <p:pic>
        <p:nvPicPr>
          <p:cNvPr id="9" name="Picture 8" descr="w3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1732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Generalization → hollow triangle · Realization → dashed hollow triangle · Dependency → dashed arrow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many instances participate?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9</a:t>
            </a:r>
          </a:p>
        </p:txBody>
      </p:sp>
      <p:pic>
        <p:nvPicPr>
          <p:cNvPr id="9" name="Picture 8" descr="w3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1 ——— 0..* Course  ·  one student, zero or many courses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Building Block 3 —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UML diagram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10</a:t>
            </a:r>
          </a:p>
        </p:txBody>
      </p:sp>
      <p:pic>
        <p:nvPicPr>
          <p:cNvPr id="9" name="Picture 8" descr="w3_diagra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17320"/>
            <a:ext cx="9509760" cy="49813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Structural (6) · Behavioural (3) · Interaction (4) — per OMG UML 2.5.1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Use-Case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should users be able to accomplish?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11</a:t>
            </a:r>
          </a:p>
        </p:txBody>
      </p:sp>
      <p:pic>
        <p:nvPicPr>
          <p:cNvPr id="9" name="Picture 8" descr="w3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50876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Captures functionality from the user's perspective — Week 9 in depth.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Who communicates with whom, in what order?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12</a:t>
            </a:r>
          </a:p>
        </p:txBody>
      </p:sp>
      <p:pic>
        <p:nvPicPr>
          <p:cNvPr id="9" name="Picture 8" descr="w3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Lifelines + messages; vertical axis =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Modelling the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13</a:t>
            </a:r>
          </a:p>
        </p:txBody>
      </p:sp>
      <p:pic>
        <p:nvPicPr>
          <p:cNvPr id="9" name="Picture 8" descr="w3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Actions, decisions and start/end nodes — Week 11 in depth.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Machine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an object changes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14</a:t>
            </a:r>
          </a:p>
        </p:txBody>
      </p:sp>
      <p:pic>
        <p:nvPicPr>
          <p:cNvPr id="9" name="Picture 8" descr="w3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554480"/>
            <a:ext cx="9692640" cy="41539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Events drive transitions: submit → approve → complete. Weeks 7–8 in depth.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Component &amp; Deployment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Software parts and where they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15</a:t>
            </a:r>
          </a:p>
        </p:txBody>
      </p:sp>
      <p:pic>
        <p:nvPicPr>
          <p:cNvPr id="9" name="Picture 8" descr="w3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760720" cy="2743200"/>
          </a:xfrm>
          <a:prstGeom prst="rect">
            <a:avLst/>
          </a:prstGeom>
        </p:spPr>
      </p:pic>
      <p:pic>
        <p:nvPicPr>
          <p:cNvPr id="10" name="Picture 9" descr="w3_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577840" cy="265611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Components = design/architecture · Nodes = servers, devices, execution environments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Grouping elements to manage large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16</a:t>
            </a:r>
          </a:p>
        </p:txBody>
      </p:sp>
      <p:pic>
        <p:nvPicPr>
          <p:cNvPr id="9" name="Picture 8" descr="w3_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Packages connect directly to Week 2's complexity management.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Rules of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Syntax, semantics and well-formedness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Syntax </a:t>
            </a:r>
            <a:r>
              <a:rPr sz="1700">
                <a:solidFill>
                  <a:srgbClr val="2B2626"/>
                </a:solidFill>
                <a:latin typeface="Open Sans"/>
              </a:rPr>
              <a:t>— how something is drawn.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Semantics </a:t>
            </a:r>
            <a:r>
              <a:rPr sz="1700">
                <a:solidFill>
                  <a:srgbClr val="2B2626"/>
                </a:solidFill>
                <a:latin typeface="Open Sans"/>
              </a:rPr>
              <a:t>— what it means.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Well-formedness </a:t>
            </a:r>
            <a:r>
              <a:rPr sz="1700">
                <a:solidFill>
                  <a:srgbClr val="2B2626"/>
                </a:solidFill>
                <a:latin typeface="Open Sans"/>
              </a:rPr>
              <a:t>— satisfies the rules of the language.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Four checks: </a:t>
            </a:r>
            <a:r>
              <a:rPr sz="1700">
                <a:solidFill>
                  <a:srgbClr val="2B2626"/>
                </a:solidFill>
                <a:latin typeface="Open Sans"/>
              </a:rPr>
              <a:t>notation correct? relationship sensible? requirements met? understandable?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 diagram can look right </a:t>
            </a:r>
            <a:r>
              <a:rPr sz="1700">
                <a:solidFill>
                  <a:srgbClr val="2B2626"/>
                </a:solidFill>
                <a:latin typeface="Open Sans"/>
              </a:rPr>
              <a:t>and still mean the wrong 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Correct notation ≠ correct analysis.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 Common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Specifications · Adornments · Divisions · Extensibility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18</a:t>
            </a:r>
          </a:p>
        </p:txBody>
      </p:sp>
      <p:pic>
        <p:nvPicPr>
          <p:cNvPr id="9" name="Picture 8" descr="w3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508760"/>
            <a:ext cx="9875520" cy="470262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Stereotypes «entity» · Tagged values {location=…} · Constraints {balance ≥ 0}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Four-Layer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M3 → M2 → M1 → 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19</a:t>
            </a:r>
          </a:p>
        </p:txBody>
      </p:sp>
      <p:pic>
        <p:nvPicPr>
          <p:cNvPr id="9" name="Picture 8" descr="w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1732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Meta-metamodel (MOF) → Metamodel → Your model → Instances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Don't Confuse the Two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classic examination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UML architecture </a:t>
            </a:r>
            <a:r>
              <a:rPr sz="1600">
                <a:solidFill>
                  <a:srgbClr val="2B2626"/>
                </a:solidFill>
                <a:latin typeface="Open Sans"/>
              </a:rPr>
              <a:t>— M3 / M2 / M1 / M0 abstraction levels of the modelling language itself.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A dictionary analogy: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M3 rules for languages, M2 definitions (Class…), M1 your model, M0 actual instances.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Software architecture </a:t>
            </a:r>
            <a:r>
              <a:rPr sz="1600">
                <a:solidFill>
                  <a:srgbClr val="2B2626"/>
                </a:solidFill>
                <a:latin typeface="Open Sans"/>
              </a:rPr>
              <a:t>— Presentation → Business Logic → Data Access → Database.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Completely different concept: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how the system is organised, not how the language is defined.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architecture ≠ software architecture — know which one the question asks about.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One System, Five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university registration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Use case </a:t>
            </a:r>
            <a:r>
              <a:rPr sz="1700">
                <a:solidFill>
                  <a:srgbClr val="2B2626"/>
                </a:solidFill>
                <a:latin typeface="Open Sans"/>
              </a:rPr>
              <a:t>— Student · Register Course (what users can do)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Class </a:t>
            </a:r>
            <a:r>
              <a:rPr sz="1700">
                <a:solidFill>
                  <a:srgbClr val="2B2626"/>
                </a:solidFill>
                <a:latin typeface="Open Sans"/>
              </a:rPr>
              <a:t>— Student, Course + attributes (structure)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Sequence </a:t>
            </a:r>
            <a:r>
              <a:rPr sz="1700">
                <a:solidFill>
                  <a:srgbClr val="2B2626"/>
                </a:solidFill>
                <a:latin typeface="Open Sans"/>
              </a:rPr>
              <a:t>— Student → System → Course (interaction)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Activity </a:t>
            </a:r>
            <a:r>
              <a:rPr sz="1700">
                <a:solidFill>
                  <a:srgbClr val="2B2626"/>
                </a:solidFill>
                <a:latin typeface="Open Sans"/>
              </a:rPr>
              <a:t>— login → select → check → register (workflow)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State </a:t>
            </a:r>
            <a:r>
              <a:rPr sz="1700">
                <a:solidFill>
                  <a:srgbClr val="2B2626"/>
                </a:solidFill>
                <a:latin typeface="Open Sans"/>
              </a:rPr>
              <a:t>— Draft → Submitted → Approved → Completed (lifecycle)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Different diagrams answer different questions — that's why UML is powerful.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&amp;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Try UML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Practical — build a class diagram: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Student · Course · Lecturer · Registration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Add attributes (studentID, courseCode, lecturerID, registrationID…)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Add relationships (Student—Registration, Lecturer—Course…)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Add multiplicities (Student 1 — 0..* Registration)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Tutorial — which diagram?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Functions a student can do → Use Case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Classes &amp; relationships → Class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Communication order → Sequence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Steps of a process → Activity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States of an application → State Machine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Where components run →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Choose the diagram by the question you are trying to answer.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3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3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UML </a:t>
            </a:r>
            <a:r>
              <a:rPr sz="1600">
                <a:solidFill>
                  <a:srgbClr val="2B2626"/>
                </a:solidFill>
                <a:latin typeface="Open Sans"/>
              </a:rPr>
              <a:t>— a standardised language for visualising, specifying and documenting systems.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Building blocks </a:t>
            </a:r>
            <a:r>
              <a:rPr sz="1600">
                <a:solidFill>
                  <a:srgbClr val="2B2626"/>
                </a:solidFill>
                <a:latin typeface="Open Sans"/>
              </a:rPr>
              <a:t>— Things · Relationships · Diagrams.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Relationships </a:t>
            </a:r>
            <a:r>
              <a:rPr sz="1600">
                <a:solidFill>
                  <a:srgbClr val="2B2626"/>
                </a:solidFill>
                <a:latin typeface="Open Sans"/>
              </a:rPr>
              <a:t>— association, dependency, generalization, realization.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Rules </a:t>
            </a:r>
            <a:r>
              <a:rPr sz="1600">
                <a:solidFill>
                  <a:srgbClr val="2B2626"/>
                </a:solidFill>
                <a:latin typeface="Open Sans"/>
              </a:rPr>
              <a:t>— syntax, semantics, well-formedness.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Mechanisms </a:t>
            </a:r>
            <a:r>
              <a:rPr sz="1600">
                <a:solidFill>
                  <a:srgbClr val="2B2626"/>
                </a:solidFill>
                <a:latin typeface="Open Sans"/>
              </a:rPr>
              <a:t>— specifications, adornments, divisions, extensibility.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Architecture </a:t>
            </a:r>
            <a:r>
              <a:rPr sz="1600">
                <a:solidFill>
                  <a:srgbClr val="2B2626"/>
                </a:solidFill>
                <a:latin typeface="Open Sans"/>
              </a:rPr>
              <a:t>— M3 meta-metamodel → M2 metamodel → M1 model → M0 instances.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is not pretty pictures — it's a language for communicating models.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Study the OMG UML 2.5.1 specification — the authoritative reference.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Build a table of 10+ diagram types: what each represents, the question it answers, when it is useful.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Map the Week 1–2 registration system onto the right diagrams (requirements, structure, workflow, interaction, lifecycle, deployment).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deeper into UML building blocks, rules, mechanisms and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