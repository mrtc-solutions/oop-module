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UML Building Blocks, Rules, Mechanisms and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4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Identify </a:t>
            </a:r>
            <a:r>
              <a:rPr sz="1700">
                <a:solidFill>
                  <a:srgbClr val="2B2626"/>
                </a:solidFill>
                <a:latin typeface="Open Sans"/>
              </a:rPr>
              <a:t>the building blocks of UML and their types.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structural, behavioural, grouping and annotational things.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700">
                <a:solidFill>
                  <a:srgbClr val="2B2626"/>
                </a:solidFill>
                <a:latin typeface="Open Sans"/>
              </a:rPr>
              <a:t>association, dependency, generalization and realization.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UML notation, semantics and well-formedness.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Apply </a:t>
            </a:r>
            <a:r>
              <a:rPr sz="1700">
                <a:solidFill>
                  <a:srgbClr val="2B2626"/>
                </a:solidFill>
                <a:latin typeface="Open Sans"/>
              </a:rPr>
              <a:t>adornments — visibility, multiplicity, constraints and modifiers.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Use </a:t>
            </a:r>
            <a:r>
              <a:rPr sz="1700">
                <a:solidFill>
                  <a:srgbClr val="2B2626"/>
                </a:solidFill>
                <a:latin typeface="Open Sans"/>
              </a:rPr>
              <a:t>extensibility mechanisms — stereotypes, tagged values, constraints, profiles.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the layered architecture M0–M3.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Apply </a:t>
            </a:r>
            <a:r>
              <a:rPr sz="1700">
                <a:solidFill>
                  <a:srgbClr val="2B2626"/>
                </a:solidFill>
                <a:latin typeface="Open Sans"/>
              </a:rPr>
              <a:t>all of it to a university information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4 is the bridge between understanding UML and using it for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 Simple Way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Five questions UML helps you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2</a:t>
            </a:r>
          </a:p>
        </p:txBody>
      </p:sp>
      <p:pic>
        <p:nvPicPr>
          <p:cNvPr id="9" name="Picture 8" descr="w4_five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What exists? · How are things related? · What can users do? · What happens? · How do objects communicate?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Things · Relationships ·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Things </a:t>
            </a:r>
            <a:r>
              <a:rPr sz="1700">
                <a:solidFill>
                  <a:srgbClr val="2B2626"/>
                </a:solidFill>
                <a:latin typeface="Open Sans"/>
              </a:rPr>
              <a:t>— structural, behavioural, grouping, annotational.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Relationships </a:t>
            </a:r>
            <a:r>
              <a:rPr sz="1700">
                <a:solidFill>
                  <a:srgbClr val="2B2626"/>
                </a:solidFill>
                <a:latin typeface="Open Sans"/>
              </a:rPr>
              <a:t>— association, dependency, generalization, realization.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Diagrams </a:t>
            </a:r>
            <a:r>
              <a:rPr sz="1700">
                <a:solidFill>
                  <a:srgbClr val="2B2626"/>
                </a:solidFill>
                <a:latin typeface="Open Sans"/>
              </a:rPr>
              <a:t>— structural and behavioural views of the model.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/>
            </a:r>
            <a:r>
              <a:rPr sz="17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Why the classification matters: </a:t>
            </a:r>
            <a:r>
              <a:rPr sz="1700">
                <a:solidFill>
                  <a:srgbClr val="2B2626"/>
                </a:solidFill>
                <a:latin typeface="Open Sans"/>
              </a:rPr>
              <a:t>UML is not a collection of random shapes — every symbol has a defined meaning.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Building blocks = the vocabulary of UML.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Structural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exists in the system?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4</a:t>
            </a:r>
          </a:p>
        </p:txBody>
      </p:sp>
      <p:pic>
        <p:nvPicPr>
          <p:cNvPr id="9" name="Picture 8" descr="w4_structural_th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0770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Class · Interface · Object · Component · Node — the relatively static parts.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Class vs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cake-mould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5</a:t>
            </a:r>
          </a:p>
        </p:txBody>
      </p:sp>
      <p:pic>
        <p:nvPicPr>
          <p:cNvPr id="9" name="Picture 8" descr="w4_class_vs_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class is a description; an object is a particular instance — student001 : Student.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Behavioural, Grouping &amp; Annotational Things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happens · How it's organised · What to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Behavioural </a:t>
            </a:r>
            <a:r>
              <a:rPr sz="1700">
                <a:solidFill>
                  <a:srgbClr val="2B2626"/>
                </a:solidFill>
                <a:latin typeface="Open Sans"/>
              </a:rPr>
              <a:t>— interactions (who communicates), activities (workflows), state machines (Draft → Submitted → Approved).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Grouping </a:t>
            </a:r>
            <a:r>
              <a:rPr sz="1700">
                <a:solidFill>
                  <a:srgbClr val="2B2626"/>
                </a:solidFill>
                <a:latin typeface="Open Sans"/>
              </a:rPr>
              <a:t>— packages organise a large model (Student Management, Finance, Examination).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Annotational </a:t>
            </a:r>
            <a:r>
              <a:rPr sz="1700">
                <a:solidFill>
                  <a:srgbClr val="2B2626"/>
                </a:solidFill>
                <a:latin typeface="Open Sans"/>
              </a:rPr>
              <a:t>— notes explain the model without adding a new business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Not everything in a model is a class — some things happen, group, or explain.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Four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Association · Dependency · Generalization · Realization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7</a:t>
            </a:r>
          </a:p>
        </p:txBody>
      </p:sp>
      <p:pic>
        <p:nvPicPr>
          <p:cNvPr id="9" name="Picture 8" descr="w4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Related-to · Uses · Is-a · Implements — four different arrows, four different meanings.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When a Relationship Needs Its Own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Student — Course →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8</a:t>
            </a:r>
          </a:p>
        </p:txBody>
      </p:sp>
      <p:pic>
        <p:nvPicPr>
          <p:cNvPr id="9" name="Picture 8" descr="w4_association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If a relationship has data or behaviour (date, status, grade), promote it to a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diagram is a view of the model — not necessarily the whole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Structural diagrams </a:t>
            </a:r>
            <a:r>
              <a:rPr sz="1700">
                <a:solidFill>
                  <a:srgbClr val="2B2626"/>
                </a:solidFill>
                <a:latin typeface="Open Sans"/>
              </a:rPr>
              <a:t>— class, object, component, composite structure, package, deployment → “What exists?”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Behavioural diagrams </a:t>
            </a:r>
            <a:r>
              <a:rPr sz="1700">
                <a:solidFill>
                  <a:srgbClr val="2B2626"/>
                </a:solidFill>
                <a:latin typeface="Open Sans"/>
              </a:rPr>
              <a:t>— use case, activity, state machine → “What happens?”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Interaction diagrams </a:t>
            </a:r>
            <a:r>
              <a:rPr sz="1700">
                <a:solidFill>
                  <a:srgbClr val="2B2626"/>
                </a:solidFill>
                <a:latin typeface="Open Sans"/>
              </a:rPr>
              <a:t>— sequence, communication, interaction overview, timing → “Who communicates, in what order?”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One model supports many views — choose the diagram by the question you 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 vs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model, many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10</a:t>
            </a:r>
          </a:p>
        </p:txBody>
      </p:sp>
      <p:pic>
        <p:nvPicPr>
          <p:cNvPr id="9" name="Picture 8" descr="w4_model_v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5284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diagram shows selected elements; the model holds everything behind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Rules of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Syntax, semantics and well-formedness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Syntax </a:t>
            </a:r>
            <a:r>
              <a:rPr sz="1700">
                <a:solidFill>
                  <a:srgbClr val="2B2626"/>
                </a:solidFill>
                <a:latin typeface="Open Sans"/>
              </a:rPr>
              <a:t>— how something is drawn.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Semantics </a:t>
            </a:r>
            <a:r>
              <a:rPr sz="1700">
                <a:solidFill>
                  <a:srgbClr val="2B2626"/>
                </a:solidFill>
                <a:latin typeface="Open Sans"/>
              </a:rPr>
              <a:t>— what it means; a symbol is not decoration.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Well-formedness </a:t>
            </a:r>
            <a:r>
              <a:rPr sz="1700">
                <a:solidFill>
                  <a:srgbClr val="2B2626"/>
                </a:solidFill>
                <a:latin typeface="Open Sans"/>
              </a:rPr>
              <a:t>— a model that follows the relevant rules.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/>
            </a:r>
            <a:r>
              <a:rPr sz="17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Never choose a symbol </a:t>
            </a:r>
            <a:r>
              <a:rPr sz="1700">
                <a:solidFill>
                  <a:srgbClr val="2B2626"/>
                </a:solidFill>
                <a:latin typeface="Open Sans"/>
              </a:rPr>
              <a:t>because “it looks nice” — a diamond has a specific meaning.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Correct notation ≠ correct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Three Ways a Model Can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Notation · Semantics ·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12</a:t>
            </a:r>
          </a:p>
        </p:txBody>
      </p:sp>
      <p:pic>
        <p:nvPicPr>
          <p:cNvPr id="9" name="Picture 8" descr="w4_wellfor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perfectly drawn diagram can still describe the wrong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Seven-Question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Quality-check every UML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13</a:t>
            </a:r>
          </a:p>
        </p:txBody>
      </p:sp>
      <p:pic>
        <p:nvPicPr>
          <p:cNvPr id="9" name="Picture 8" descr="w4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Name · Kind · Meaning · Relationships · Multiplicity · Constraint · Stereotype.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Four Common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Specifications · Adornments · Divisions · Extensibility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Specifications </a:t>
            </a:r>
            <a:r>
              <a:rPr sz="1700">
                <a:solidFill>
                  <a:srgbClr val="2B2626"/>
                </a:solidFill>
                <a:latin typeface="Open Sans"/>
              </a:rPr>
              <a:t>— the diagram is a view; behind every box lies a richer specification.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Adornments </a:t>
            </a:r>
            <a:r>
              <a:rPr sz="1700">
                <a:solidFill>
                  <a:srgbClr val="2B2626"/>
                </a:solidFill>
                <a:latin typeface="Open Sans"/>
              </a:rPr>
              <a:t>— visibility, multiplicity, constraints, modifiers added to a basic element.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Common divisions </a:t>
            </a:r>
            <a:r>
              <a:rPr sz="1700">
                <a:solidFill>
                  <a:srgbClr val="2B2626"/>
                </a:solidFill>
                <a:latin typeface="Open Sans"/>
              </a:rPr>
              <a:t>— class ↔ object (type vs instance); interface ↔ implementation (contract vs behaviour).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Extensibility </a:t>
            </a:r>
            <a:r>
              <a:rPr sz="1700">
                <a:solidFill>
                  <a:srgbClr val="2B2626"/>
                </a:solidFill>
                <a:latin typeface="Open Sans"/>
              </a:rPr>
              <a:t>— stereotypes, tagged values, constraints and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classic four mechanisms of Booch, Rumbaugh and Jacobson.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Adornments —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Reading the symbols in a class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15</a:t>
            </a:r>
          </a:p>
        </p:txBody>
      </p:sp>
      <p:pic>
        <p:nvPicPr>
          <p:cNvPr id="9" name="Picture 8" descr="w4_vi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+ public · − private · # protected · ~ package.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Extensibility — Stereotypes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«entity» · «controller» · «boundary»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16</a:t>
            </a:r>
          </a:p>
        </p:txBody>
      </p:sp>
      <p:pic>
        <p:nvPicPr>
          <p:cNvPr id="9" name="Picture 8" descr="w4_stere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stereotype gives an element a specialised meaning.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Stereotype · Tagged Value ·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extensibility mechanisms compared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17</a:t>
            </a:r>
          </a:p>
        </p:txBody>
      </p:sp>
      <p:pic>
        <p:nvPicPr>
          <p:cNvPr id="9" name="Picture 8" descr="w4_exte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Specialised meaning · extra metadata · a condition that must hold.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Customising UML for a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UML </a:t>
            </a:r>
            <a:r>
              <a:rPr sz="1700">
                <a:solidFill>
                  <a:srgbClr val="2B2626"/>
                </a:solidFill>
                <a:latin typeface="Open Sans"/>
              </a:rPr>
              <a:t>— a general-purpose modelling language.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Profile </a:t>
            </a:r>
            <a:r>
              <a:rPr sz="1700">
                <a:solidFill>
                  <a:srgbClr val="2B2626"/>
                </a:solidFill>
                <a:latin typeface="Open Sans"/>
              </a:rPr>
              <a:t>— a tailored UML vocabulary and rules for a domain (security, business process, real-time).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Defines </a:t>
            </a:r>
            <a:r>
              <a:rPr sz="1700">
                <a:solidFill>
                  <a:srgbClr val="2B2626"/>
                </a:solidFill>
                <a:latin typeface="Open Sans"/>
              </a:rPr>
              <a:t>stereotypes and their associated extensions.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/>
            </a:r>
            <a:r>
              <a:rPr sz="17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UML 2.5.1 </a:t>
            </a:r>
            <a:r>
              <a:rPr sz="1700">
                <a:solidFill>
                  <a:srgbClr val="2B2626"/>
                </a:solidFill>
                <a:latin typeface="Open Sans"/>
              </a:rPr>
              <a:t>ships with a standard profile as a machine-readable artefact.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= the language · Profile = a customised dialect for a domain.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Architecture — M0 to M3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meta-modelling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19</a:t>
            </a:r>
          </a:p>
        </p:txBody>
      </p:sp>
      <p:pic>
        <p:nvPicPr>
          <p:cNvPr id="9" name="Picture 8" descr="w4_architecture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M3 meta-metamodel (MOF) → M2 metamodel → M1 your model → M0 instances.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Don't Confuse the Two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classic examination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UML architecture </a:t>
            </a:r>
            <a:r>
              <a:rPr sz="1600">
                <a:solidFill>
                  <a:srgbClr val="2B2626"/>
                </a:solidFill>
                <a:latin typeface="Open Sans"/>
              </a:rPr>
              <a:t>— M3 / M2 / M1 / M0 abstraction levels of the modelling language itself.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Is “Student” M0, M1 or M2? Depends on context: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Student : Class → M1 element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“Class” as a concept → M2 metamodel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Francis : Student → M0 instance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Software architecture </a:t>
            </a:r>
            <a:r>
              <a:rPr sz="1600">
                <a:solidFill>
                  <a:srgbClr val="2B2626"/>
                </a:solidFill>
                <a:latin typeface="Open Sans"/>
              </a:rPr>
              <a:t>— Presentation → Business Logic → Data Access → Database.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Completely different concept: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how the system is organised,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not how the language is defined.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architecture ≠ software architecture — know which one the question asks about.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One System, Five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same banking model, different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21</a:t>
            </a:r>
          </a:p>
        </p:txBody>
      </p:sp>
      <p:pic>
        <p:nvPicPr>
          <p:cNvPr id="9" name="Picture 8" descr="w4_multi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30787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Different diagrams answer different questions — that's why UML suits complex systems.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and Abstraction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10,000 students → one Student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22</a:t>
            </a:r>
          </a:p>
        </p:txBody>
      </p:sp>
      <p:pic>
        <p:nvPicPr>
          <p:cNvPr id="9" name="Picture 8" descr="w4_chart_abs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 model the essential, ignoring the irrelevant — abstraction makes complexity manageable.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and Complexity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Grouping classes into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23</a:t>
            </a:r>
          </a:p>
        </p:txBody>
      </p:sp>
      <p:pic>
        <p:nvPicPr>
          <p:cNvPr id="9" name="Picture 8" descr="w4_chart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Don't overload one diagram — split related areas into packages.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Mistake — Generalization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hollow triangle points to the general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24</a:t>
            </a:r>
          </a:p>
        </p:txBody>
      </p:sp>
      <p:pic>
        <p:nvPicPr>
          <p:cNvPr id="9" name="Picture 8" descr="w4_generalization_mis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0756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▷ User — triangle at the User end. The most common beginner error.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Case Study — University E-Learning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Classes, relationships and the Submission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25</a:t>
            </a:r>
          </a:p>
        </p:txBody>
      </p:sp>
      <p:pic>
        <p:nvPicPr>
          <p:cNvPr id="9" name="Picture 8" descr="w4_e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· Lecturer · Course · Assignment · Submission · Grade · LearningMaterial.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4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4 · Slide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Building blocks </a:t>
            </a:r>
            <a:r>
              <a:rPr sz="1700">
                <a:solidFill>
                  <a:srgbClr val="2B2626"/>
                </a:solidFill>
                <a:latin typeface="Open Sans"/>
              </a:rPr>
              <a:t>— things, relationships, diagrams.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Things </a:t>
            </a:r>
            <a:r>
              <a:rPr sz="1700">
                <a:solidFill>
                  <a:srgbClr val="2B2626"/>
                </a:solidFill>
                <a:latin typeface="Open Sans"/>
              </a:rPr>
              <a:t>— structural, behavioural, grouping, annotational.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Relationships </a:t>
            </a:r>
            <a:r>
              <a:rPr sz="1700">
                <a:solidFill>
                  <a:srgbClr val="2B2626"/>
                </a:solidFill>
                <a:latin typeface="Open Sans"/>
              </a:rPr>
              <a:t>— association, dependency, generalization, realization.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Rules </a:t>
            </a:r>
            <a:r>
              <a:rPr sz="1700">
                <a:solidFill>
                  <a:srgbClr val="2B2626"/>
                </a:solidFill>
                <a:latin typeface="Open Sans"/>
              </a:rPr>
              <a:t>— syntax, semantics, well-formedness.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Mechanisms </a:t>
            </a:r>
            <a:r>
              <a:rPr sz="1700">
                <a:solidFill>
                  <a:srgbClr val="2B2626"/>
                </a:solidFill>
                <a:latin typeface="Open Sans"/>
              </a:rPr>
              <a:t>— specifications, adornments, divisions, extensibility.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Architecture </a:t>
            </a:r>
            <a:r>
              <a:rPr sz="1700">
                <a:solidFill>
                  <a:srgbClr val="2B2626"/>
                </a:solidFill>
                <a:latin typeface="Open Sans"/>
              </a:rPr>
              <a:t>— M3 → M2 → M1 → M0.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is a language: learn its vocabulary, rules and organisation — then use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Study the building blocks and relationship notations — draw each one from memory.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Practice the seven-question checklist on every diagram you create.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Model the university e-learning system: classes, relationships, multiplicity, constraints.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the object-oriented analysis process — applying everything from Weeks 1–4.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