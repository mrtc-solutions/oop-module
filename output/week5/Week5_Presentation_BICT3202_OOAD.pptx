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Object-Oriented Analysis — Object Modelling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5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object-oriented analysis.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object vs class, and link vs association.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candidate objects/classes and filter irrelevant nouns.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attributes and operations/responsibilities.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Draw </a:t>
            </a:r>
            <a:r>
              <a:rPr sz="1700">
                <a:solidFill>
                  <a:srgbClr val="2B2626"/>
                </a:solidFill>
                <a:latin typeface="Open Sans"/>
              </a:rPr>
              <a:t>a UML class and object diagram with correct notation.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700">
                <a:solidFill>
                  <a:srgbClr val="2B2626"/>
                </a:solidFill>
                <a:latin typeface="Open Sans"/>
              </a:rPr>
              <a:t>association names, roles and multiplicity.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generalization and specialization, and draw them.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Use </a:t>
            </a:r>
            <a:r>
              <a:rPr sz="1700">
                <a:solidFill>
                  <a:srgbClr val="2B2626"/>
                </a:solidFill>
                <a:latin typeface="Open Sans"/>
              </a:rPr>
              <a:t>a CASE tool to build a basic class diagram — and evaluate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5 is where we start doing real Object-Oriented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knowing UML to doing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Weeks 1–4 </a:t>
            </a:r>
            <a:r>
              <a:rPr sz="1700">
                <a:solidFill>
                  <a:srgbClr val="2B2626"/>
                </a:solidFill>
                <a:latin typeface="Open Sans"/>
              </a:rPr>
              <a:t>built the foundation: needs, OO principles, UML, UML mechanics.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Now: </a:t>
            </a:r>
            <a:r>
              <a:rPr sz="1700">
                <a:solidFill>
                  <a:srgbClr val="2B2626"/>
                </a:solidFill>
                <a:latin typeface="Open Sans"/>
              </a:rPr>
              <a:t>“Given a real-world problem, I can identify objects/classes and their relationships.”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Week 5 — Object Modelling I: </a:t>
            </a:r>
            <a:r>
              <a:rPr sz="1700">
                <a:solidFill>
                  <a:srgbClr val="2B2626"/>
                </a:solidFill>
                <a:latin typeface="Open Sans"/>
              </a:rPr>
              <a:t>object/class · notation · links &amp; association · generalization/specialization · CASE tool.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Week 6 — Object Modelling II: </a:t>
            </a:r>
            <a:r>
              <a:rPr sz="1700">
                <a:solidFill>
                  <a:srgbClr val="2B2626"/>
                </a:solidFill>
                <a:latin typeface="Open Sans"/>
              </a:rPr>
              <a:t>aggregation · inheritance · polymorphism · grouping.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first — identify and represent the objects before anything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Object-Oriented Analysis?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Studying the problem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3</a:t>
            </a:r>
          </a:p>
        </p:txBody>
      </p:sp>
      <p:pic>
        <p:nvPicPr>
          <p:cNvPr id="9" name="Picture 8" descr="w5_ooa_wha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OOA examines the domain as objects, classes, responsibilities, relationships and behaviour.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Key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“What important things exist in this problem domain?”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Banking: </a:t>
            </a:r>
            <a:r>
              <a:rPr sz="1700">
                <a:solidFill>
                  <a:srgbClr val="2B2626"/>
                </a:solidFill>
                <a:latin typeface="Open Sans"/>
              </a:rPr>
              <a:t>Customer · Account · Transaction · Bank · Loan · Card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Hospital: </a:t>
            </a:r>
            <a:r>
              <a:rPr sz="1700">
                <a:solidFill>
                  <a:srgbClr val="2B2626"/>
                </a:solidFill>
                <a:latin typeface="Open Sans"/>
              </a:rPr>
              <a:t>Patient · Doctor · Nurse · Appointment · Prescription · MedicalRecord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Online university: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 · Lecturer · Course · Assignment · Submission · Grade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These become </a:t>
            </a:r>
            <a:r>
              <a:rPr sz="1700">
                <a:solidFill>
                  <a:srgbClr val="2B2626"/>
                </a:solidFill>
                <a:latin typeface="Open Sans"/>
              </a:rPr>
              <a:t>candidate classes — but not every noun is a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Identify the important objects first, then ask how they are related.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vs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Description vs particular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5</a:t>
            </a:r>
          </a:p>
        </p:txBody>
      </p:sp>
      <p:pic>
        <p:nvPicPr>
          <p:cNvPr id="9" name="Picture 8" descr="w5_class_vs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Car = class · Toyota Corolla ABC123 = object · Student = class · Francis : Student = 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Class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compartments: name · attributes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6</a:t>
            </a:r>
          </a:p>
        </p:txBody>
      </p:sp>
      <p:pic>
        <p:nvPicPr>
          <p:cNvPr id="9" name="Picture 8" descr="w5_uml_class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visibility name : type  —  e.g.  - studentID : String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Attributes vs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Information vs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7</a:t>
            </a:r>
          </a:p>
        </p:txBody>
      </p:sp>
      <p:pic>
        <p:nvPicPr>
          <p:cNvPr id="9" name="Picture 8" descr="w5_attr_vs_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Memory trick: attributes = information · operations = behaviour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Object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Underlined name + attribute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8</a:t>
            </a:r>
          </a:p>
        </p:txBody>
      </p:sp>
      <p:pic>
        <p:nvPicPr>
          <p:cNvPr id="9" name="Picture 8" descr="w5_object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class describes structure; an object shows a specific instance and its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Object Modelling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beginner-friendly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9</a:t>
            </a:r>
          </a:p>
        </p:txBody>
      </p:sp>
      <p:pic>
        <p:nvPicPr>
          <p:cNvPr id="9" name="Picture 8" descr="w5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 not just underline every noun — validate each step against the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Identifying Candidate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noun technique — with a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10</a:t>
            </a:r>
          </a:p>
        </p:txBody>
      </p:sp>
      <p:pic>
        <p:nvPicPr>
          <p:cNvPr id="9" name="Picture 8" descr="w5_noun_techn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“Monday” is a value of a date, not a class the system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Links and Associations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Class level vs object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11</a:t>
            </a:r>
          </a:p>
        </p:txBody>
      </p:sp>
      <p:pic>
        <p:nvPicPr>
          <p:cNvPr id="9" name="Picture 8" descr="w5_link_vs_asso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192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Association connects classes · Link connects objects — a key distinction.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Naming an Association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Give relationships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12</a:t>
            </a:r>
          </a:p>
        </p:txBody>
      </p:sp>
      <p:pic>
        <p:nvPicPr>
          <p:cNvPr id="9" name="Picture 8" descr="w5_association_n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— registers for — Course · roles: student / registeredCourse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many instances can participate?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13</a:t>
            </a:r>
          </a:p>
        </p:txBody>
      </p:sp>
      <p:pic>
        <p:nvPicPr>
          <p:cNvPr id="9" name="Picture 8" descr="w5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1 — 0..* Course: one student, zero or many courses.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Multiplicities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1 · 0..1 · * · 0..* · 1..* · 2..5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14</a:t>
            </a:r>
          </a:p>
        </p:txBody>
      </p:sp>
      <p:pic>
        <p:nvPicPr>
          <p:cNvPr id="9" name="Picture 8" descr="w5_chart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0..* allows zero · 1..* requires at least 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One-to-One · One-to-Many · Many-to-Many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relationship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15</a:t>
            </a:r>
          </a:p>
        </p:txBody>
      </p:sp>
      <p:pic>
        <p:nvPicPr>
          <p:cNvPr id="9" name="Picture 8" descr="w5_cardi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Many-to-many often hides data (date, status, grade) — a Registration class may be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“is-a”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16</a:t>
            </a:r>
          </a:p>
        </p:txBody>
      </p:sp>
      <p:pic>
        <p:nvPicPr>
          <p:cNvPr id="9" name="Picture 8" descr="w5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192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Student is a User — the general class holds the shared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Generalization vs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 not confuse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17</a:t>
            </a:r>
          </a:p>
        </p:txBody>
      </p:sp>
      <p:pic>
        <p:nvPicPr>
          <p:cNvPr id="9" name="Picture 8" descr="w5_gen_vs_ass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is-a (generalization) vs related-to (association) — check the is-a test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“Is-A” and “Has-A”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Two questions that prevent most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18</a:t>
            </a:r>
          </a:p>
        </p:txBody>
      </p:sp>
      <p:pic>
        <p:nvPicPr>
          <p:cNvPr id="9" name="Picture 8" descr="w5_isa_h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“Is a Student a Course?” No — use an association, not generalization.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Complete Class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User · Student · Lecturer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19</a:t>
            </a:r>
          </a:p>
        </p:txBody>
      </p:sp>
      <p:pic>
        <p:nvPicPr>
          <p:cNvPr id="9" name="Picture 8" descr="w5_complet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Common features live in User; each subclass adds its own attributes and operations.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Specialization &amp;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Opposite perspectives, same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Generalization </a:t>
            </a:r>
            <a:r>
              <a:rPr sz="1700">
                <a:solidFill>
                  <a:srgbClr val="2B2626"/>
                </a:solidFill>
                <a:latin typeface="Open Sans"/>
              </a:rPr>
              <a:t>— bottom-up: “Car is generalized into Vehicle.”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Specialization </a:t>
            </a:r>
            <a:r>
              <a:rPr sz="1700">
                <a:solidFill>
                  <a:srgbClr val="2B2626"/>
                </a:solidFill>
                <a:latin typeface="Open Sans"/>
              </a:rPr>
              <a:t>— top-down: “Vehicle is specialized into Car.”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Superclass / parent / generalized class </a:t>
            </a:r>
            <a:r>
              <a:rPr sz="1700">
                <a:solidFill>
                  <a:srgbClr val="2B2626"/>
                </a:solidFill>
                <a:latin typeface="Open Sans"/>
              </a:rPr>
              <a:t>= the general class (User).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Subclass / child / derived class </a:t>
            </a:r>
            <a:r>
              <a:rPr sz="1700">
                <a:solidFill>
                  <a:srgbClr val="2B2626"/>
                </a:solidFill>
                <a:latin typeface="Open Sans"/>
              </a:rPr>
              <a:t>= the specialized class (Student).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Same diagram, two viewpoints — know the vocabulary for the exam.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Computer-Aided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21</a:t>
            </a:r>
          </a:p>
        </p:txBody>
      </p:sp>
      <p:pic>
        <p:nvPicPr>
          <p:cNvPr id="9" name="Picture 8" descr="w5_case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analyst decides; the tool represents and manages — it does not think for you.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Lab — Your First Class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Student · Course · Lecturer ·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Create </a:t>
            </a:r>
            <a:r>
              <a:rPr sz="1700">
                <a:solidFill>
                  <a:srgbClr val="2B2626"/>
                </a:solidFill>
                <a:latin typeface="Open Sans"/>
              </a:rPr>
              <a:t>the four classes with attributes and operations.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Add associations: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 — makes — Registration · Registration — is for — Course · Lecturer — teaches — Course.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Add multiplicities: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 1 — 0..* Registration · Course 1 — 0..* Registration · Lecturer 1 — 0..* Course.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Add generalization: </a:t>
            </a:r>
            <a:r>
              <a:rPr sz="1700">
                <a:solidFill>
                  <a:srgbClr val="2B2626"/>
                </a:solidFill>
                <a:latin typeface="Open Sans"/>
              </a:rPr>
              <a:t>User ▷ Student · User ▷ Lecturer, then move shared attributes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Document your assumptions — multiplicity depends on the real requirements.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Validating a Class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Review before you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Purpose </a:t>
            </a:r>
            <a:r>
              <a:rPr sz="1700">
                <a:solidFill>
                  <a:srgbClr val="2B2626"/>
                </a:solidFill>
                <a:latin typeface="Open Sans"/>
              </a:rPr>
              <a:t>— does every class earn its place?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Placement </a:t>
            </a:r>
            <a:r>
              <a:rPr sz="1700">
                <a:solidFill>
                  <a:srgbClr val="2B2626"/>
                </a:solidFill>
                <a:latin typeface="Open Sans"/>
              </a:rPr>
              <a:t>— does every attribute belong to the right class?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Meaningful operations </a:t>
            </a:r>
            <a:r>
              <a:rPr sz="1700">
                <a:solidFill>
                  <a:srgbClr val="2B2626"/>
                </a:solidFill>
                <a:latin typeface="Open Sans"/>
              </a:rPr>
              <a:t>— no random methods to fill the box.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Correct relationships </a:t>
            </a:r>
            <a:r>
              <a:rPr sz="1700">
                <a:solidFill>
                  <a:srgbClr val="2B2626"/>
                </a:solidFill>
                <a:latin typeface="Open Sans"/>
              </a:rPr>
              <a:t>— and multiplicities supported by requirements.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Genuine is-a </a:t>
            </a:r>
            <a:r>
              <a:rPr sz="1700">
                <a:solidFill>
                  <a:srgbClr val="2B2626"/>
                </a:solidFill>
                <a:latin typeface="Open Sans"/>
              </a:rPr>
              <a:t>— is each generalization a real is-a relationship?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Readable </a:t>
            </a:r>
            <a:r>
              <a:rPr sz="1700">
                <a:solidFill>
                  <a:srgbClr val="2B2626"/>
                </a:solidFill>
                <a:latin typeface="Open Sans"/>
              </a:rPr>
              <a:t>— can someone else understand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diagram is a communication tool — review it the way an examiner would.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Student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Confusing </a:t>
            </a:r>
            <a:r>
              <a:rPr sz="1600">
                <a:solidFill>
                  <a:srgbClr val="2B2626"/>
                </a:solidFill>
                <a:latin typeface="Open Sans"/>
              </a:rPr>
              <a:t>class and object — “John is the Student class” is wrong.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Generalization everywhere </a:t>
            </a:r>
            <a:r>
              <a:rPr sz="1600">
                <a:solidFill>
                  <a:srgbClr val="2B2626"/>
                </a:solidFill>
                <a:latin typeface="Open Sans"/>
              </a:rPr>
              <a:t>— Student ▷ Course is wrong; a student is not a course.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Forgetting multiplicities </a:t>
            </a:r>
            <a:r>
              <a:rPr sz="1600">
                <a:solidFill>
                  <a:srgbClr val="2B2626"/>
                </a:solidFill>
                <a:latin typeface="Open Sans"/>
              </a:rPr>
              <a:t>— requirements need to know “how many?”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Every noun a class </a:t>
            </a:r>
            <a:r>
              <a:rPr sz="1600">
                <a:solidFill>
                  <a:srgbClr val="2B2626"/>
                </a:solidFill>
                <a:latin typeface="Open Sans"/>
              </a:rPr>
              <a:t>— filter, don't just underline.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Random operations </a:t>
            </a:r>
            <a:r>
              <a:rPr sz="1600">
                <a:solidFill>
                  <a:srgbClr val="2B2626"/>
                </a:solidFill>
                <a:latin typeface="Open Sans"/>
              </a:rPr>
              <a:t>— eat(), sleep(), walk() are not system responsibilities.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level: model registerCourse() — leave public void syntax for design.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5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5 · Slide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OOA </a:t>
            </a:r>
            <a:r>
              <a:rPr sz="1600">
                <a:solidFill>
                  <a:srgbClr val="2B2626"/>
                </a:solidFill>
                <a:latin typeface="Open Sans"/>
              </a:rPr>
              <a:t>— study the domain as objects, classes, responsibilities, relationships, behaviour.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/ Object </a:t>
            </a:r>
            <a:r>
              <a:rPr sz="1600">
                <a:solidFill>
                  <a:srgbClr val="2B2626"/>
                </a:solidFill>
                <a:latin typeface="Open Sans"/>
              </a:rPr>
              <a:t>— description vs particular instance.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Attributes / Operations </a:t>
            </a:r>
            <a:r>
              <a:rPr sz="1600">
                <a:solidFill>
                  <a:srgbClr val="2B2626"/>
                </a:solidFill>
                <a:latin typeface="Open Sans"/>
              </a:rPr>
              <a:t>— information vs behaviour.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Link / Association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object-level vs class-level connection.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Multiplicity </a:t>
            </a:r>
            <a:r>
              <a:rPr sz="1600">
                <a:solidFill>
                  <a:srgbClr val="2B2626"/>
                </a:solidFill>
                <a:latin typeface="Open Sans"/>
              </a:rPr>
              <a:t>— how many instances participate.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Generalization / Specialization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is-a, general-to-specific.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CASE tool </a:t>
            </a:r>
            <a:r>
              <a:rPr sz="1600">
                <a:solidFill>
                  <a:srgbClr val="2B2626"/>
                </a:solidFill>
                <a:latin typeface="Open Sans"/>
              </a:rPr>
              <a:t>— assists modelling, never replaces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OOA is understanding the domain, not just drawing boxes.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Practise the noun technique, then apply the is-a / has-a tests to every candidate class.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the hospital and library models with attributes, operations, associations and multiplicities.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Use your CASE tool to build the registration model from the practical lab.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Object Modelling II — aggregation, inheritance, polymorphism and grouping.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