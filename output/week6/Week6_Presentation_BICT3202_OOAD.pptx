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Object-Oriented Analysis — Object Modelling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6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700">
                <a:solidFill>
                  <a:srgbClr val="2B2626"/>
                </a:solidFill>
                <a:latin typeface="Open Sans"/>
              </a:rPr>
              <a:t>aggregation and explain whole-part relationships.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700">
                <a:solidFill>
                  <a:srgbClr val="2B2626"/>
                </a:solidFill>
                <a:latin typeface="Open Sans"/>
              </a:rPr>
              <a:t>ordinary association, aggregation and composition.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inheritance and its link to UML generalization.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700">
                <a:solidFill>
                  <a:srgbClr val="2B2626"/>
                </a:solidFill>
                <a:latin typeface="Open Sans"/>
              </a:rPr>
              <a:t>is-a (inheritance) from has-a (aggregation).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polymorphism and method overriding with examples.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why polymorphism supports extensibility.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Group </a:t>
            </a:r>
            <a:r>
              <a:rPr sz="1700">
                <a:solidFill>
                  <a:srgbClr val="2B2626"/>
                </a:solidFill>
                <a:latin typeface="Open Sans"/>
              </a:rPr>
              <a:t>related classes into packages.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Evaluate </a:t>
            </a:r>
            <a:r>
              <a:rPr sz="1700">
                <a:solidFill>
                  <a:srgbClr val="2B2626"/>
                </a:solidFill>
                <a:latin typeface="Open Sans"/>
              </a:rPr>
              <a:t>whether aggregation, inheritance or polymorphism fits a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6 makes the object model reusable, extensible and organised.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Where Week 6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Building on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2</a:t>
            </a:r>
          </a:p>
        </p:txBody>
      </p:sp>
      <p:pic>
        <p:nvPicPr>
          <p:cNvPr id="9" name="Picture 8" descr="w6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5 = what exists &amp; how related · Week 6 = whole-part, inheritance, polymorphism, grouping.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Aggregation — Whole-Part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object represents a whole; others are its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3</a:t>
            </a:r>
          </a:p>
        </p:txBody>
      </p:sp>
      <p:pic>
        <p:nvPicPr>
          <p:cNvPr id="9" name="Picture 8" descr="w6_whole_p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University &lt;&gt;-- Department · Library &lt;&gt;-- Book · the hollow diamond sits on the whole.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Aggregation vs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general relationship vs whole-part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4</a:t>
            </a:r>
          </a:p>
        </p:txBody>
      </p:sp>
      <p:pic>
        <p:nvPicPr>
          <p:cNvPr id="9" name="Picture 8" descr="w6_agg_vs_ass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Association = related-to · Aggregation = has/contains (whole-part).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Aggregation vs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Hollow diamond vs filled diamond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5</a:t>
            </a:r>
          </a:p>
        </p:txBody>
      </p:sp>
      <p:pic>
        <p:nvPicPr>
          <p:cNvPr id="9" name="Picture 8" descr="w6_agg_vs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Hollow = parts can exist independently · Filled = the composite owns its parts.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Weak Aggregation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parts can outlive the whole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6</a:t>
            </a:r>
          </a:p>
        </p:txBody>
      </p:sp>
      <p:pic>
        <p:nvPicPr>
          <p:cNvPr id="9" name="Picture 8" descr="w6_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Aggregation does NOT mean “the part dies when the whole dies” — that's composition.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Aggregation with 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Whole-part relationships still use multiplicity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7</a:t>
            </a:r>
          </a:p>
        </p:txBody>
      </p:sp>
      <p:pic>
        <p:nvPicPr>
          <p:cNvPr id="9" name="Picture 8" descr="w6_agg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University 1 &lt;&gt;-- 1..* Department · Department 1 &lt;&gt;-- 0..* Lecturer.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specific class acquires features from a general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8</a:t>
            </a:r>
          </a:p>
        </p:txBody>
      </p:sp>
      <p:pic>
        <p:nvPicPr>
          <p:cNvPr id="9" name="Picture 8" descr="w6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192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Car inherits Vehicle's features — drawn as UML generalization.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Generalization vs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Same idea, different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9</a:t>
            </a:r>
          </a:p>
        </p:txBody>
      </p:sp>
      <p:pic>
        <p:nvPicPr>
          <p:cNvPr id="9" name="Picture 8" descr="w6_gen_vs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says generalization · OOP says inheritance — one implements the 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Does the Child Inherit?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No duplication of common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10</a:t>
            </a:r>
          </a:p>
        </p:txBody>
      </p:sp>
      <p:pic>
        <p:nvPicPr>
          <p:cNvPr id="9" name="Picture 8" descr="w6_what_inher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Manager gains employeeID, name, email, login(), logout() from Employee —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 Inheritance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Animal -&gt; Dog, Cat, Bird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11</a:t>
            </a:r>
          </a:p>
        </p:txBody>
      </p:sp>
      <p:pic>
        <p:nvPicPr>
          <p:cNvPr id="9" name="Picture 8" descr="w6_an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192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Each subclass adds its own behaviour — bark(), meow(), fly().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IS-A vs HAS-A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classic exam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12</a:t>
            </a:r>
          </a:p>
        </p:txBody>
      </p:sp>
      <p:pic>
        <p:nvPicPr>
          <p:cNvPr id="9" name="Picture 8" descr="w6_isa_ha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Car -&gt; Vehicle (is-a) = inheritance · Car &lt;&gt;-- Engine (has-a) = aggregation.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Polymorphism — “Many Forms”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same request, different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13</a:t>
            </a:r>
          </a:p>
        </p:txBody>
      </p:sp>
      <p:pic>
        <p:nvPicPr>
          <p:cNvPr id="9" name="Picture 8" descr="w6_poly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makeSound() -&gt; bark / meow / moo — the object decides how to respond.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Polymorphism in Practice —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processPayment(), several implementations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14</a:t>
            </a:r>
          </a:p>
        </p:txBody>
      </p:sp>
      <p:pic>
        <p:nvPicPr>
          <p:cNvPr id="9" name="Picture 8" descr="w6_payment_poly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system requests processPayment() without treating each payment type as unrelated.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Modern Example —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Email, SMS and Push all implement send()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15</a:t>
            </a:r>
          </a:p>
        </p:txBody>
      </p:sp>
      <p:pic>
        <p:nvPicPr>
          <p:cNvPr id="9" name="Picture 8" descr="w6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Add WhatsAppNotification later — the code that requests send() stays unchanged.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Method Overriding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programming mechanism behind polymorphism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The general class defines </a:t>
            </a:r>
            <a:r>
              <a:rPr sz="1700">
                <a:solidFill>
                  <a:srgbClr val="2B2626"/>
                </a:solidFill>
                <a:latin typeface="Open Sans"/>
              </a:rPr>
              <a:t>makeSound().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Each subclass provides </a:t>
            </a:r>
            <a:r>
              <a:rPr sz="1700">
                <a:solidFill>
                  <a:srgbClr val="2B2626"/>
                </a:solidFill>
                <a:latin typeface="Open Sans"/>
              </a:rPr>
              <a:t>a specialised version that overrides the inherited operation.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Java: </a:t>
            </a:r>
            <a:r>
              <a:rPr sz="1700">
                <a:solidFill>
                  <a:srgbClr val="2B2626"/>
                </a:solidFill>
                <a:latin typeface="Open Sans"/>
              </a:rPr>
              <a:t>Animal a = new Dog();  a.makeSound();  -&gt;  Bark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      </a:t>
            </a:r>
            <a:r>
              <a:rPr sz="1700">
                <a:solidFill>
                  <a:srgbClr val="2B2626"/>
                </a:solidFill>
                <a:latin typeface="Open Sans"/>
              </a:rPr>
              <a:t>a = new Cat();  a.makeSound();  -&gt;  Meow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In OOAD, </a:t>
            </a:r>
            <a:r>
              <a:rPr sz="1700">
                <a:solidFill>
                  <a:srgbClr val="2B2626"/>
                </a:solidFill>
                <a:latin typeface="Open Sans"/>
              </a:rPr>
              <a:t>model the idea first — leave programming syntax for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variable is typed Animal, but the actual object decides the behaviour.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Grouping —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Organise classes the way folders organise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17</a:t>
            </a:r>
          </a:p>
        </p:txBody>
      </p:sp>
      <p:pic>
        <p:nvPicPr>
          <p:cNvPr id="9" name="Picture 8" descr="w6_grou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60 classes in one diagram is confusing — packages restore readability and modularity.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Complete Example — Online 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All four concepts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18</a:t>
            </a:r>
          </a:p>
        </p:txBody>
      </p:sp>
      <p:pic>
        <p:nvPicPr>
          <p:cNvPr id="9" name="Picture 8" descr="w6_online_sh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Composition (Order *-- OrderItem) + inheritance (Payment) + polymorphism + grouping.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Complete Example — University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Building a larger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Inheritance: </a:t>
            </a:r>
            <a:r>
              <a:rPr sz="1700">
                <a:solidFill>
                  <a:srgbClr val="2B2626"/>
                </a:solidFill>
                <a:latin typeface="Open Sans"/>
              </a:rPr>
              <a:t>User --|&gt; Student · User --|&gt; Lecturer.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Aggregation: </a:t>
            </a:r>
            <a:r>
              <a:rPr sz="1700">
                <a:solidFill>
                  <a:srgbClr val="2B2626"/>
                </a:solidFill>
                <a:latin typeface="Open Sans"/>
              </a:rPr>
              <a:t>Department &lt;&gt;-- Lecturer.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Association: </a:t>
            </a:r>
            <a:r>
              <a:rPr sz="1700">
                <a:solidFill>
                  <a:srgbClr val="2B2626"/>
                </a:solidFill>
                <a:latin typeface="Open Sans"/>
              </a:rPr>
              <a:t>Student — Registration — Course.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Composition: </a:t>
            </a:r>
            <a:r>
              <a:rPr sz="1700">
                <a:solidFill>
                  <a:srgbClr val="2B2626"/>
                </a:solidFill>
                <a:latin typeface="Open Sans"/>
              </a:rPr>
              <a:t>Course *-- CourseMaterial (strongly owned parts).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Polymorphism: </a:t>
            </a:r>
            <a:r>
              <a:rPr sz="1700">
                <a:solidFill>
                  <a:srgbClr val="2B2626"/>
                </a:solidFill>
                <a:latin typeface="Open Sans"/>
              </a:rPr>
              <a:t>Assessment.calculateMark() -&gt; Assignment, Exam, Quiz,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Choose the relationship that best represents the requirements — not every possible symbol.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Evaluating 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Ask before you 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Whole-part? </a:t>
            </a:r>
            <a:r>
              <a:rPr sz="1600">
                <a:solidFill>
                  <a:srgbClr val="2B2626"/>
                </a:solidFill>
                <a:latin typeface="Open Sans"/>
              </a:rPr>
              <a:t>is the aggregation really whole-part, or just an association?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Independent or owned? </a:t>
            </a:r>
            <a:r>
              <a:rPr sz="1600">
                <a:solidFill>
                  <a:srgbClr val="2B2626"/>
                </a:solidFill>
                <a:latin typeface="Open Sans"/>
              </a:rPr>
              <a:t>do the parts outlive the whole (aggregation) or not (composition)?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Genuine is-a? </a:t>
            </a:r>
            <a:r>
              <a:rPr sz="1600">
                <a:solidFill>
                  <a:srgbClr val="2B2626"/>
                </a:solidFill>
                <a:latin typeface="Open Sans"/>
              </a:rPr>
              <a:t>is every generalization a real is-a relationship?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Common meaning? </a:t>
            </a:r>
            <a:r>
              <a:rPr sz="1600">
                <a:solidFill>
                  <a:srgbClr val="2B2626"/>
                </a:solidFill>
                <a:latin typeface="Open Sans"/>
              </a:rPr>
              <a:t>does the polymorphic operation mean the same across subclasses?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Readable? </a:t>
            </a:r>
            <a:r>
              <a:rPr sz="1600">
                <a:solidFill>
                  <a:srgbClr val="2B2626"/>
                </a:solidFill>
                <a:latin typeface="Open Sans"/>
              </a:rPr>
              <a:t>is the model organised into sensible packages?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goal is a model that best represents the requirements — not one that uses every symbol.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6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6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Aggregation </a:t>
            </a:r>
            <a:r>
              <a:rPr sz="1700">
                <a:solidFill>
                  <a:srgbClr val="2B2626"/>
                </a:solidFill>
                <a:latin typeface="Open Sans"/>
              </a:rPr>
              <a:t>— whole-part, hollow diamond, parts independent.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Composition </a:t>
            </a:r>
            <a:r>
              <a:rPr sz="1700">
                <a:solidFill>
                  <a:srgbClr val="2B2626"/>
                </a:solidFill>
                <a:latin typeface="Open Sans"/>
              </a:rPr>
              <a:t>— strong whole-part, filled diamond, composite owns parts.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Inheritance </a:t>
            </a:r>
            <a:r>
              <a:rPr sz="1700">
                <a:solidFill>
                  <a:srgbClr val="2B2626"/>
                </a:solidFill>
                <a:latin typeface="Open Sans"/>
              </a:rPr>
              <a:t>— is-a; UML generalization implemented in code.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Polymorphism </a:t>
            </a:r>
            <a:r>
              <a:rPr sz="1700">
                <a:solidFill>
                  <a:srgbClr val="2B2626"/>
                </a:solidFill>
                <a:latin typeface="Open Sans"/>
              </a:rPr>
              <a:t>— one operation name, different behaviour; supports extensibility.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Grouping </a:t>
            </a:r>
            <a:r>
              <a:rPr sz="1700">
                <a:solidFill>
                  <a:srgbClr val="2B2626"/>
                </a:solidFill>
                <a:latin typeface="Open Sans"/>
              </a:rPr>
              <a:t>— packages organise related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These four ideas make the object model reusable, extensible and understandable.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Department &lt;&gt;-- Lecturer and Order *-- OrderLine — justify each choice.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Model the Payment hierarchy with processPayment(), then add a new payment type without breaking the design.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Organise the university system into packages using your CASE tool.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Dynamic Modelling — events, states, operations and concurrency.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