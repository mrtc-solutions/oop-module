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77840"/>
            <a:ext cx="12191695" cy="1280160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u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8607" y="685800"/>
            <a:ext cx="1554480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377440"/>
            <a:ext cx="112772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 i="0">
                <a:solidFill>
                  <a:srgbClr val="E4C97C"/>
                </a:solidFill>
                <a:latin typeface="Poppins"/>
              </a:rPr>
              <a:t>EXPLOITS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01752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FAF6EC"/>
                </a:solidFill>
                <a:latin typeface="Open Sans"/>
              </a:rPr>
              <a:t>BSc INFORMATION COMMUNICATION AND TECHNOLOGY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20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C9A227"/>
                </a:solidFill>
                <a:latin typeface="Poppins"/>
              </a:rPr>
              <a:t>BICT 3202 · OBJECT-ORIENTED ANALYSIS AND DESIGN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112772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 i="0">
                <a:solidFill>
                  <a:srgbClr val="FFFFFF"/>
                </a:solidFill>
                <a:latin typeface="Poppins"/>
              </a:rPr>
              <a:t>WEEK 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89204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0" i="0">
                <a:solidFill>
                  <a:srgbClr val="FAF6EC"/>
                </a:solidFill>
                <a:latin typeface="Poppins"/>
              </a:rPr>
              <a:t>Object-Oriented Analysis — Object Modelling II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806440"/>
            <a:ext cx="1127729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Francis Fweta  ·  ICT Lecturer  ·  Week 6 of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Learning Outcomes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By the end of this week, you should be able to…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Define </a:t>
            </a:r>
            <a:r>
              <a:rPr sz="1700">
                <a:solidFill>
                  <a:srgbClr val="2B2626"/>
                </a:solidFill>
                <a:latin typeface="Open Sans"/>
              </a:rPr>
              <a:t>aggregation and explain whole-part relationships.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700">
                <a:solidFill>
                  <a:srgbClr val="2B2626"/>
                </a:solidFill>
                <a:latin typeface="Open Sans"/>
              </a:rPr>
              <a:t>ordinary association, aggregation and composition.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inheritance and its link to UML generalization.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Distinguish </a:t>
            </a:r>
            <a:r>
              <a:rPr sz="1700">
                <a:solidFill>
                  <a:srgbClr val="2B2626"/>
                </a:solidFill>
                <a:latin typeface="Open Sans"/>
              </a:rPr>
              <a:t>is-a (inheritance) from has-a (aggregation).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polymorphism and method overriding with examples.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Explain </a:t>
            </a:r>
            <a:r>
              <a:rPr sz="1700">
                <a:solidFill>
                  <a:srgbClr val="2B2626"/>
                </a:solidFill>
                <a:latin typeface="Open Sans"/>
              </a:rPr>
              <a:t>why polymorphism supports extensibility.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Group </a:t>
            </a:r>
            <a:r>
              <a:rPr sz="1700">
                <a:solidFill>
                  <a:srgbClr val="2B2626"/>
                </a:solidFill>
                <a:latin typeface="Open Sans"/>
              </a:rPr>
              <a:t>related classes into packages.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Evaluate </a:t>
            </a:r>
            <a:r>
              <a:rPr sz="1700">
                <a:solidFill>
                  <a:srgbClr val="2B2626"/>
                </a:solidFill>
                <a:latin typeface="Open Sans"/>
              </a:rPr>
              <a:t>whether aggregation, inheritance or polymorphism fits a problem.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6 makes the object model reusable, extensible and organised.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Where Week 6 Fits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Building on Week 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2</a:t>
            </a:r>
          </a:p>
        </p:txBody>
      </p:sp>
      <p:pic>
        <p:nvPicPr>
          <p:cNvPr id="9" name="Picture 8" descr="w6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Week 5 = what exists &amp; how related · Week 6 = whole-part, inheritance, polymorphism, grouping.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Aggregation — Whole-Part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object represents a whole; others are its parts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3</a:t>
            </a:r>
          </a:p>
        </p:txBody>
      </p:sp>
      <p:pic>
        <p:nvPicPr>
          <p:cNvPr id="9" name="Picture 8" descr="w6_whole_p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University &lt;&gt;-- Department · Library &lt;&gt;-- Book · the hollow diamond sits on the whole.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Aggregation vs Association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general relationship vs whole-part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4</a:t>
            </a:r>
          </a:p>
        </p:txBody>
      </p:sp>
      <p:pic>
        <p:nvPicPr>
          <p:cNvPr id="9" name="Picture 8" descr="w6_agg_vs_ass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8680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Association = related-to · Aggregation = has/contains (whole-part).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Aggregation vs Composition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Hollow diamond vs filled diamond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5</a:t>
            </a:r>
          </a:p>
        </p:txBody>
      </p:sp>
      <p:pic>
        <p:nvPicPr>
          <p:cNvPr id="9" name="Picture 8" descr="w6_agg_vs_com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Hollow = parts can exist independently · Filled = the composite owns its parts.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Weak Aggregation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parts can outlive the whole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6</a:t>
            </a:r>
          </a:p>
        </p:txBody>
      </p:sp>
      <p:pic>
        <p:nvPicPr>
          <p:cNvPr id="9" name="Picture 8" descr="w6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4961709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Aggregation does NOT mean “the part dies when the whole dies” — that's composition.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Aggregation with Multiplicity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Whole-part relationships still use multiplicity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7</a:t>
            </a:r>
          </a:p>
        </p:txBody>
      </p:sp>
      <p:pic>
        <p:nvPicPr>
          <p:cNvPr id="9" name="Picture 8" descr="w6_agg_multiplic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5284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University 1 &lt;&gt;-- 1..* Department · Department 1 &lt;&gt;-- 0..* Lecturer.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specific class acquires features from a general class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8</a:t>
            </a:r>
          </a:p>
        </p:txBody>
      </p:sp>
      <p:pic>
        <p:nvPicPr>
          <p:cNvPr id="9" name="Picture 8" descr="w6_inheri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19248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 Car inherits Vehicle's features — drawn as UML generalization.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Generalization vs Inheritance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Same idea, different vocabulary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9</a:t>
            </a:r>
          </a:p>
        </p:txBody>
      </p:sp>
      <p:pic>
        <p:nvPicPr>
          <p:cNvPr id="9" name="Picture 8" descr="w6_gen_vs_inheri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52845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UML says generalization · OOP says inheritance — one implements the other.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What Does the Child Inherit?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No duplication of common features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10</a:t>
            </a:r>
          </a:p>
        </p:txBody>
      </p:sp>
      <p:pic>
        <p:nvPicPr>
          <p:cNvPr id="9" name="Picture 8" descr="w6_what_inheri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Manager gains employeeID, name, email, login(), logout() from Employee — automatically.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An Inheritance Hierarchy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Animal → Dog, Cat, Bird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11</a:t>
            </a:r>
          </a:p>
        </p:txBody>
      </p:sp>
      <p:pic>
        <p:nvPicPr>
          <p:cNvPr id="9" name="Picture 8" descr="w6_ani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19248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Each subclass adds its own behaviour — bark(), meow(), fly().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IS-A vs HAS-A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 classic exam question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12</a:t>
            </a:r>
          </a:p>
        </p:txBody>
      </p:sp>
      <p:pic>
        <p:nvPicPr>
          <p:cNvPr id="9" name="Picture 8" descr="w6_isa_ha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0967" y="1463040"/>
            <a:ext cx="9509760" cy="48680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Car -&gt; Vehicle (is-a) = inheritance · Car &lt;&gt;-- Engine (has-a) = aggregation.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Polymorphism — “Many Forms”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same request, different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13</a:t>
            </a:r>
          </a:p>
        </p:txBody>
      </p:sp>
      <p:pic>
        <p:nvPicPr>
          <p:cNvPr id="9" name="Picture 8" descr="w6_polymorph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makeSound() → bark / meow / moo — the object decides how to respond.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Polymorphism in Practice — Payments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One processPayment(), several implementations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14</a:t>
            </a:r>
          </a:p>
        </p:txBody>
      </p:sp>
      <p:pic>
        <p:nvPicPr>
          <p:cNvPr id="9" name="Picture 8" descr="w6_payment_polymorph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system requests processPayment() without treating each payment type as unrelated.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A Modern Example — Notifications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Email, SMS and Push all implement send()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15</a:t>
            </a:r>
          </a:p>
        </p:txBody>
      </p:sp>
      <p:pic>
        <p:nvPicPr>
          <p:cNvPr id="9" name="Picture 8" descr="w6_not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Add WhatsAppNotification later — the code that requests send() stays unchanged.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Method Overriding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programming mechanism behind polymorphism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The general class defines </a:t>
            </a:r>
            <a:r>
              <a:rPr sz="1700">
                <a:solidFill>
                  <a:srgbClr val="2B2626"/>
                </a:solidFill>
                <a:latin typeface="Open Sans"/>
              </a:rPr>
              <a:t>makeSound().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Each subclass provides </a:t>
            </a:r>
            <a:r>
              <a:rPr sz="1700">
                <a:solidFill>
                  <a:srgbClr val="2B2626"/>
                </a:solidFill>
                <a:latin typeface="Open Sans"/>
              </a:rPr>
              <a:t>a specialised version that overrides the inherited operation.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Java: </a:t>
            </a:r>
            <a:r>
              <a:rPr sz="1700">
                <a:solidFill>
                  <a:srgbClr val="2B2626"/>
                </a:solidFill>
                <a:latin typeface="Open Sans"/>
              </a:rPr>
              <a:t>Animal a = new Dog();  a.makeSound();  →  Bark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      </a:t>
            </a:r>
            <a:r>
              <a:rPr sz="1700">
                <a:solidFill>
                  <a:srgbClr val="2B2626"/>
                </a:solidFill>
                <a:latin typeface="Open Sans"/>
              </a:rPr>
              <a:t>a = new Cat();  a.makeSound();  →  Meow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/>
            </a:r>
            <a:r>
              <a:rPr sz="1700">
                <a:solidFill>
                  <a:srgbClr val="2B2626"/>
                </a:solidFill>
                <a:latin typeface="Open Sans"/>
              </a:rPr>
              <a:t/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In OOAD, </a:t>
            </a:r>
            <a:r>
              <a:rPr sz="1700">
                <a:solidFill>
                  <a:srgbClr val="2B2626"/>
                </a:solidFill>
                <a:latin typeface="Open Sans"/>
              </a:rPr>
              <a:t>model the idea first — leave programming syntax for design.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variable is typed Animal, but the actual object decides the behaviour.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Grouping — Packages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Organise classes the way folders organise files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17</a:t>
            </a:r>
          </a:p>
        </p:txBody>
      </p:sp>
      <p:pic>
        <p:nvPicPr>
          <p:cNvPr id="9" name="Picture 8" descr="w6_grou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60 classes in one diagram is confusing — packages restore readability and modularity.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Complete Example — Online Shopping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All four concepts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18</a:t>
            </a:r>
          </a:p>
        </p:txBody>
      </p:sp>
      <p:pic>
        <p:nvPicPr>
          <p:cNvPr id="9" name="Picture 8" descr="w6_online_sho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463040"/>
            <a:ext cx="9692640" cy="5423263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Composition (Order ◆ OrderItem) + inheritance (Payment) + polymorphism + grouping.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Complete Example — University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Building a larger model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Inheritance: </a:t>
            </a:r>
            <a:r>
              <a:rPr sz="1700">
                <a:solidFill>
                  <a:srgbClr val="2B2626"/>
                </a:solidFill>
                <a:latin typeface="Open Sans"/>
              </a:rPr>
              <a:t>User ▷ Student · User ▷ Lecturer.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Aggregation: </a:t>
            </a:r>
            <a:r>
              <a:rPr sz="1700">
                <a:solidFill>
                  <a:srgbClr val="2B2626"/>
                </a:solidFill>
                <a:latin typeface="Open Sans"/>
              </a:rPr>
              <a:t>Department &lt;&gt;-- Lecturer.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Association: </a:t>
            </a:r>
            <a:r>
              <a:rPr sz="1700">
                <a:solidFill>
                  <a:srgbClr val="2B2626"/>
                </a:solidFill>
                <a:latin typeface="Open Sans"/>
              </a:rPr>
              <a:t>Student — Registration — Course.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Composition: </a:t>
            </a:r>
            <a:r>
              <a:rPr sz="1700">
                <a:solidFill>
                  <a:srgbClr val="2B2626"/>
                </a:solidFill>
                <a:latin typeface="Open Sans"/>
              </a:rPr>
              <a:t>Course ◆-- CourseMaterial (strongly owned parts).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Polymorphism: </a:t>
            </a:r>
            <a:r>
              <a:rPr sz="1700">
                <a:solidFill>
                  <a:srgbClr val="2B2626"/>
                </a:solidFill>
                <a:latin typeface="Open Sans"/>
              </a:rPr>
              <a:t>Assessment.calculateMark() → Assignment, Exam, Quiz, Project.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Choose the relationship that best represents the requirements — not every possible symbol.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Evaluating 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Ask before you submit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Whole-part? </a:t>
            </a:r>
            <a:r>
              <a:rPr sz="1600">
                <a:solidFill>
                  <a:srgbClr val="2B2626"/>
                </a:solidFill>
                <a:latin typeface="Open Sans"/>
              </a:rPr>
              <a:t>is the aggregation really whole-part, or just an association?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Independent or owned? </a:t>
            </a:r>
            <a:r>
              <a:rPr sz="1600">
                <a:solidFill>
                  <a:srgbClr val="2B2626"/>
                </a:solidFill>
                <a:latin typeface="Open Sans"/>
              </a:rPr>
              <a:t>do the parts outlive the whole (aggregation) or not (composition)?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Genuine is-a? </a:t>
            </a:r>
            <a:r>
              <a:rPr sz="1600">
                <a:solidFill>
                  <a:srgbClr val="2B2626"/>
                </a:solidFill>
                <a:latin typeface="Open Sans"/>
              </a:rPr>
              <a:t>is every generalization a real is-a relationship?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Common meaning? </a:t>
            </a:r>
            <a:r>
              <a:rPr sz="1600">
                <a:solidFill>
                  <a:srgbClr val="2B2626"/>
                </a:solidFill>
                <a:latin typeface="Open Sans"/>
              </a:rPr>
              <a:t>does the polymorphic operation mean the same across subclasses?</a:t>
            </a:r>
          </a:p>
          <a:p>
            <a:pPr>
              <a:lnSpc>
                <a:spcPct val="106000"/>
              </a:lnSpc>
              <a:spcAft>
                <a:spcPts val="1300"/>
              </a:spcAft>
            </a:pPr>
            <a:r>
              <a:rPr sz="16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600" b="1">
                <a:solidFill>
                  <a:srgbClr val="7B1113"/>
                </a:solidFill>
                <a:latin typeface="Open Sans"/>
              </a:rPr>
              <a:t>Readable? </a:t>
            </a:r>
            <a:r>
              <a:rPr sz="1600">
                <a:solidFill>
                  <a:srgbClr val="2B2626"/>
                </a:solidFill>
                <a:latin typeface="Open Sans"/>
              </a:rPr>
              <a:t>is the model organised into sensible packages?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 goal is a model that best represents the requirements — not one that uses every symbol.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B11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33856"/>
            <a:ext cx="12191695" cy="18288"/>
          </a:xfrm>
          <a:prstGeom prst="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46304"/>
            <a:ext cx="9692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Poppins"/>
              </a:rPr>
              <a:t>Week 6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58368"/>
            <a:ext cx="969264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E4C97C"/>
                </a:solidFill>
                <a:latin typeface="Open Sans"/>
              </a:rPr>
              <a:t>The essentials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51052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BICT 3202 · Object-Oriented Analysis and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0" y="651052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6B6B6B"/>
                </a:solidFill>
                <a:latin typeface="Open Sans"/>
              </a:rPr>
              <a:t>Week 6 · Slide 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63040"/>
            <a:ext cx="106070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Aggregation </a:t>
            </a:r>
            <a:r>
              <a:rPr sz="1700">
                <a:solidFill>
                  <a:srgbClr val="2B2626"/>
                </a:solidFill>
                <a:latin typeface="Open Sans"/>
              </a:rPr>
              <a:t>— whole-part, hollow diamond, parts independent.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Composition </a:t>
            </a:r>
            <a:r>
              <a:rPr sz="1700">
                <a:solidFill>
                  <a:srgbClr val="2B2626"/>
                </a:solidFill>
                <a:latin typeface="Open Sans"/>
              </a:rPr>
              <a:t>— strong whole-part, filled diamond, composite owns parts.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Inheritance </a:t>
            </a:r>
            <a:r>
              <a:rPr sz="1700">
                <a:solidFill>
                  <a:srgbClr val="2B2626"/>
                </a:solidFill>
                <a:latin typeface="Open Sans"/>
              </a:rPr>
              <a:t>— is-a; UML generalization implemented in code.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Polymorphism </a:t>
            </a:r>
            <a:r>
              <a:rPr sz="1700">
                <a:solidFill>
                  <a:srgbClr val="2B2626"/>
                </a:solidFill>
                <a:latin typeface="Open Sans"/>
              </a:rPr>
              <a:t>— one operation name, different behaviour; supports extensibility.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7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700" b="1">
                <a:solidFill>
                  <a:srgbClr val="7B1113"/>
                </a:solidFill>
                <a:latin typeface="Open Sans"/>
              </a:rPr>
              <a:t>Grouping </a:t>
            </a:r>
            <a:r>
              <a:rPr sz="1700">
                <a:solidFill>
                  <a:srgbClr val="2B2626"/>
                </a:solidFill>
                <a:latin typeface="Open Sans"/>
              </a:rPr>
              <a:t>— packages organise related classes.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989320"/>
            <a:ext cx="10545775" cy="457200"/>
          </a:xfrm>
          <a:prstGeom prst="roundRect">
            <a:avLst/>
          </a:prstGeom>
          <a:solidFill>
            <a:srgbClr val="590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5989320"/>
            <a:ext cx="9997135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These four ideas make the object model reusable, extensible and understandable.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B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" y="320040"/>
            <a:ext cx="11551615" cy="6217920"/>
          </a:xfrm>
          <a:prstGeom prst="rect">
            <a:avLst/>
          </a:prstGeom>
          <a:solidFill>
            <a:srgbClr val="7B1113"/>
          </a:solidFill>
          <a:ln w="12700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C9A227"/>
                </a:solidFill>
                <a:latin typeface="Poppins"/>
              </a:rPr>
              <a:t>REVISION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Draw Department &lt;&gt;-- Lecturer and Order ◆-- OrderLine — justify each choice.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Model the Payment hierarchy with processPayment(), then add a new payment type without breaking the design.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Organise the university system into packages using your CASE tool.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800" b="1">
                <a:solidFill>
                  <a:srgbClr val="7B1113"/>
                </a:solidFill>
                <a:latin typeface="Open Sans"/>
              </a:rPr>
              <a:t>▪  </a:t>
            </a:r>
            <a:r>
              <a:rPr sz="1800">
                <a:solidFill>
                  <a:srgbClr val="FAF6EC"/>
                </a:solidFill>
                <a:latin typeface="Open Sans"/>
              </a:rPr>
              <a:t>Next week: Dynamic Modelling — events, states, operations and concurrency.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E4C97C"/>
                </a:solidFill>
                <a:latin typeface="Open Sans"/>
              </a:rPr>
              <a:t>Thank you — Francis Fweta · ICT Lecturer · Exploits University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