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Object-Oriented Analysis — Dynamic Modelling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7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700">
                <a:solidFill>
                  <a:srgbClr val="2B2626"/>
                </a:solidFill>
                <a:latin typeface="Open Sans"/>
              </a:rPr>
              <a:t>dynamic modelling and explain why behaviour must be modelled.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700">
                <a:solidFill>
                  <a:srgbClr val="2B2626"/>
                </a:solidFill>
                <a:latin typeface="Open Sans"/>
              </a:rPr>
              <a:t>events and states, and tell them apart.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transitions, initial/final states and guards.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entry, exit and do behaviour.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700">
                <a:solidFill>
                  <a:srgbClr val="2B2626"/>
                </a:solidFill>
                <a:latin typeface="Open Sans"/>
              </a:rPr>
              <a:t>operations from events, and explain state change.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concurrency and model concurrent states.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Relate </a:t>
            </a:r>
            <a:r>
              <a:rPr sz="1700">
                <a:solidFill>
                  <a:srgbClr val="2B2626"/>
                </a:solidFill>
                <a:latin typeface="Open Sans"/>
              </a:rPr>
              <a:t>structural and dynamic models.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Use </a:t>
            </a:r>
            <a:r>
              <a:rPr sz="1700">
                <a:solidFill>
                  <a:srgbClr val="2B2626"/>
                </a:solidFill>
                <a:latin typeface="Open Sans"/>
              </a:rPr>
              <a:t>a CASE tool to build and inspect a state machine.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7 moves from “what exists” to “what happens over time.”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Structural vs Dynamic 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exists vs 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2</a:t>
            </a:r>
          </a:p>
        </p:txBody>
      </p:sp>
      <p:pic>
        <p:nvPicPr>
          <p:cNvPr id="9" name="Picture 8" descr="w7_structural_vs_dyna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Structural = classes, attributes, associations · Dynamic = events, states, transitions.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Car Analogy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Design/parts vs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3</a:t>
            </a:r>
          </a:p>
        </p:txBody>
      </p:sp>
      <p:pic>
        <p:nvPicPr>
          <p:cNvPr id="9" name="Picture 8" descr="w7_ca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class diagram tells us the parts; the state machine tells us what happens.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What Is an Event?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Something that happens — to which the system responds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4</a:t>
            </a:r>
          </a:p>
        </p:txBody>
      </p:sp>
      <p:pic>
        <p:nvPicPr>
          <p:cNvPr id="9" name="Picture 8" descr="w7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3078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User · system · external · data events — e.g. click Login, timer expires, payment received.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Event vs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5</a:t>
            </a:r>
          </a:p>
        </p:txBody>
      </p:sp>
      <p:pic>
        <p:nvPicPr>
          <p:cNvPr id="9" name="Picture 8" descr="w7_event_vs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Event = something happens · State = something is. PaymentReceived ≠ Paid.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Order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An object changes state as events occur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6</a:t>
            </a:r>
          </a:p>
        </p:txBody>
      </p:sp>
      <p:pic>
        <p:nvPicPr>
          <p:cNvPr id="9" name="Picture 8" descr="w7_order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6155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Pending -&gt; Paid -&gt; Processing -&gt; Shipped -&gt; Delivered — read it as a story.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State-Machine 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Initial · states · transitions ·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7</a:t>
            </a:r>
          </a:p>
        </p:txBody>
      </p:sp>
      <p:pic>
        <p:nvPicPr>
          <p:cNvPr id="9" name="Picture 8" descr="w7_n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3078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Filled circle begins the lifecycle; the bull's-eye ends it; arrows carry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Conditions on transitions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8</a:t>
            </a:r>
          </a:p>
        </p:txBody>
      </p:sp>
      <p:pic>
        <p:nvPicPr>
          <p:cNvPr id="9" name="Picture 8" descr="w7_gu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3078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[balance sufficient] -&gt; Cash Dispensed · [balance insufficient] -&gt; Insufficient Funds.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Entry, Exit and Do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Behaviour attached to a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9</a:t>
            </a:r>
          </a:p>
        </p:txBody>
      </p:sp>
      <p:pic>
        <p:nvPicPr>
          <p:cNvPr id="9" name="Picture 8" descr="w7_entry_exit_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0770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entry / on arrival · exit / on leaving · do / while inside the state.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 Complete State Machine — Payment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Read it as a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10</a:t>
            </a:r>
          </a:p>
        </p:txBody>
      </p:sp>
      <p:pic>
        <p:nvPicPr>
          <p:cNvPr id="9" name="Picture 8" descr="w7_payment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Pending -&gt; Processing -&gt; (success: Paid | failure: Failed).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Operation vs 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Another common confusion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11</a:t>
            </a:r>
          </a:p>
        </p:txBody>
      </p:sp>
      <p:pic>
        <p:nvPicPr>
          <p:cNvPr id="9" name="Picture 8" descr="w7_operation_vs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Operation = can be invoked (calculateTotal()) · Event = occurs (PaymentReceived).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Operations Can Change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An ATM's operations move it between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12</a:t>
            </a:r>
          </a:p>
        </p:txBody>
      </p:sp>
      <p:pic>
        <p:nvPicPr>
          <p:cNvPr id="9" name="Picture 8" descr="w7_operation_state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846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insertCard(): Idle -&gt; Card Inserted · ejectCard(): Card Inserted -&gt; Idle.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Sequential vs Concurrent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One-after-another vs at-the-same-time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13</a:t>
            </a:r>
          </a:p>
        </p:txBody>
      </p:sp>
      <p:pic>
        <p:nvPicPr>
          <p:cNvPr id="9" name="Picture 8" descr="w7_concurr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After placing an order: payment, preparation and driver assignment can overlap.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Concurrency in Real Life — Airport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Two activities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14</a:t>
            </a:r>
          </a:p>
        </p:txBody>
      </p:sp>
      <p:pic>
        <p:nvPicPr>
          <p:cNvPr id="9" name="Picture 8" descr="w7_air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0770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Security screening and baggage processing run concurrently, then join before boarding.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UML Concurrent Regions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composite state with parallel regions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15</a:t>
            </a:r>
          </a:p>
        </p:txBody>
      </p:sp>
      <p:pic>
        <p:nvPicPr>
          <p:cNvPr id="9" name="Picture 8" descr="w7_concurrent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Order Processing = Payment region + Delivery region, joining at Completed.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Two Models That Complement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ATM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16</a:t>
            </a:r>
          </a:p>
        </p:txBody>
      </p:sp>
      <p:pic>
        <p:nvPicPr>
          <p:cNvPr id="9" name="Picture 8" descr="w7_atm_b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Neither replaces the other — structure + behaviour = complete understanding.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Dynamic Models Reveal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Impossible transitions surface requirements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 class diagram </a:t>
            </a:r>
            <a:r>
              <a:rPr sz="1700">
                <a:solidFill>
                  <a:srgbClr val="2B2626"/>
                </a:solidFill>
                <a:latin typeface="Open Sans"/>
              </a:rPr>
              <a:t>shows Order with cancelOrder() — but when is it allowed?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The state machine </a:t>
            </a:r>
            <a:r>
              <a:rPr sz="1700">
                <a:solidFill>
                  <a:srgbClr val="2B2626"/>
                </a:solidFill>
                <a:latin typeface="Open Sans"/>
              </a:rPr>
              <a:t>shows Delivered -&gt; Cancelled, which may not make business sense.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Correct rule: </a:t>
            </a:r>
            <a:r>
              <a:rPr sz="1700">
                <a:solidFill>
                  <a:srgbClr val="2B2626"/>
                </a:solidFill>
                <a:latin typeface="Open Sans"/>
              </a:rPr>
              <a:t>Pending/Paid/Processing -&gt; Cancelled; Shipped/Delivered -&gt; Return process.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/>
            </a:r>
            <a:r>
              <a:rPr sz="1700">
                <a:solidFill>
                  <a:srgbClr val="2B2626"/>
                </a:solidFill>
                <a:latin typeface="Open Sans"/>
              </a:rPr>
              <a:t/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Modelling behaviour </a:t>
            </a:r>
            <a:r>
              <a:rPr sz="1700">
                <a:solidFill>
                  <a:srgbClr val="2B2626"/>
                </a:solidFill>
                <a:latin typeface="Open Sans"/>
              </a:rPr>
              <a:t>exposes requirements problems before implementation.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That is a key reason analysts model behaviour, not just structure.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Complete Example — Hospital Appointment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full state machine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18</a:t>
            </a:r>
          </a:p>
        </p:txBody>
      </p:sp>
      <p:pic>
        <p:nvPicPr>
          <p:cNvPr id="9" name="Picture 8" descr="w7_hosp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Requested -&gt; Confirmed -&gt; Checked In -&gt; Waiting -&gt; With Doctor -&gt; Completed (or Cancelled).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State vs Class vs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Three distinct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Class </a:t>
            </a:r>
            <a:r>
              <a:rPr sz="1700">
                <a:solidFill>
                  <a:srgbClr val="2B2626"/>
                </a:solidFill>
                <a:latin typeface="Open Sans"/>
              </a:rPr>
              <a:t>— a blueprint/type: Order.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Object </a:t>
            </a:r>
            <a:r>
              <a:rPr sz="1700">
                <a:solidFill>
                  <a:srgbClr val="2B2626"/>
                </a:solidFill>
                <a:latin typeface="Open Sans"/>
              </a:rPr>
              <a:t>— a specific instance: order1024.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State </a:t>
            </a:r>
            <a:r>
              <a:rPr sz="1700">
                <a:solidFill>
                  <a:srgbClr val="2B2626"/>
                </a:solidFill>
                <a:latin typeface="Open Sans"/>
              </a:rPr>
              <a:t>— the condition of that object: Paid.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Event </a:t>
            </a:r>
            <a:r>
              <a:rPr sz="1700">
                <a:solidFill>
                  <a:srgbClr val="2B2626"/>
                </a:solidFill>
                <a:latin typeface="Open Sans"/>
              </a:rPr>
              <a:t>— something that happens: PaymentReceived.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/>
            </a:r>
            <a:r>
              <a:rPr sz="1700">
                <a:solidFill>
                  <a:srgbClr val="2B2626"/>
                </a:solidFill>
                <a:latin typeface="Open Sans"/>
              </a:rPr>
              <a:t/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Order #1001 -&gt; Paid · #1002 -&gt; Pending · #1003 -&gt; Shipped</a:t>
            </a:r>
            <a:r>
              <a:rPr sz="1700">
                <a:solidFill>
                  <a:srgbClr val="2B2626"/>
                </a:solidFill>
                <a:latin typeface="Open Sans"/>
              </a:rPr>
              <a:t>— same class, different states.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state describes the current condition of an object during its lifecycle.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State Machine vs Flowchart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They are not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Flowchart thinking </a:t>
            </a:r>
            <a:r>
              <a:rPr sz="1600">
                <a:solidFill>
                  <a:srgbClr val="2B2626"/>
                </a:solidFill>
                <a:latin typeface="Open Sans"/>
              </a:rPr>
              <a:t>— procedural flow: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>Calculate total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>Check payment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>Print receipt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/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State-machine thinking </a:t>
            </a:r>
            <a:r>
              <a:rPr sz="1600">
                <a:solidFill>
                  <a:srgbClr val="2B2626"/>
                </a:solidFill>
                <a:latin typeface="Open Sans"/>
              </a:rPr>
              <a:t>— lifecycle of an object: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>Pending -&gt; (PaymentReceived) -&gt; Paid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>Paid -&gt; (Dispatched) -&gt; Shipped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>focuses on states + events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>
                <a:solidFill>
                  <a:srgbClr val="2B2626"/>
                </a:solidFill>
                <a:latin typeface="Open Sans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state machine is about an entity's states and event-driven transitions — not procedural steps.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Traffic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simple state machine — and intersection concurrency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21</a:t>
            </a:r>
          </a:p>
        </p:txBody>
      </p:sp>
      <p:pic>
        <p:nvPicPr>
          <p:cNvPr id="9" name="Picture 8" descr="w7_traffic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846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Red -&gt; Green -&gt; Yellow -&gt; Red; at an intersection, two controllers coordinate concurrently.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Practical Lab — Online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Build a full state machine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States: </a:t>
            </a:r>
            <a:r>
              <a:rPr sz="1600">
                <a:solidFill>
                  <a:srgbClr val="2B2626"/>
                </a:solidFill>
                <a:latin typeface="Open Sans"/>
              </a:rPr>
              <a:t>New · Pending Payment · Paid · Processing · Shipped · Delivered · Cancelled · Returned.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Events: </a:t>
            </a:r>
            <a:r>
              <a:rPr sz="1600">
                <a:solidFill>
                  <a:srgbClr val="2B2626"/>
                </a:solidFill>
                <a:latin typeface="Open Sans"/>
              </a:rPr>
              <a:t>placeOrder · paymentConfirmed · dispatchOrder · deliverOrder · cancelOrder · requestReturn.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Guards: </a:t>
            </a:r>
            <a:r>
              <a:rPr sz="1600">
                <a:solidFill>
                  <a:srgbClr val="2B2626"/>
                </a:solidFill>
                <a:latin typeface="Open Sans"/>
              </a:rPr>
              <a:t>requestReturn [within return period].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Entry behaviour: </a:t>
            </a:r>
            <a:r>
              <a:rPr sz="1600">
                <a:solidFill>
                  <a:srgbClr val="2B2626"/>
                </a:solidFill>
                <a:latin typeface="Open Sans"/>
              </a:rPr>
              <a:t>entry / sendNotification() on Paid · entry / notifyCustomer() on Shipped.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Add guards and entry behaviour — then explain what happens on entering each state.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Student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Avoid these five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Event as a state </a:t>
            </a:r>
            <a:r>
              <a:rPr sz="1600">
                <a:solidFill>
                  <a:srgbClr val="2B2626"/>
                </a:solidFill>
                <a:latin typeface="Open Sans"/>
              </a:rPr>
              <a:t>— PaymentReceived is an event, not [PaymentReceived].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Operation as a state </a:t>
            </a:r>
            <a:r>
              <a:rPr sz="1600">
                <a:solidFill>
                  <a:srgbClr val="2B2626"/>
                </a:solidFill>
                <a:latin typeface="Open Sans"/>
              </a:rPr>
              <a:t>— processPayment() is an operation, not [ProcessPayment].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Forgetting the object </a:t>
            </a:r>
            <a:r>
              <a:rPr sz="1600">
                <a:solidFill>
                  <a:srgbClr val="2B2626"/>
                </a:solidFill>
                <a:latin typeface="Open Sans"/>
              </a:rPr>
              <a:t>— whose state are we describing?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Impossible transitions </a:t>
            </a:r>
            <a:r>
              <a:rPr sz="1600">
                <a:solidFill>
                  <a:srgbClr val="2B2626"/>
                </a:solidFill>
                <a:latin typeface="Open Sans"/>
              </a:rPr>
              <a:t>— Delivered -&gt; Paid may make no sense.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 state for every action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“Click Button” is an event, not a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If you cannot explain the diagram in words, you probably don't understand the model.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7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essentials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7 · Slide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Dynamic modelling </a:t>
            </a:r>
            <a:r>
              <a:rPr sz="1600">
                <a:solidFill>
                  <a:srgbClr val="2B2626"/>
                </a:solidFill>
                <a:latin typeface="Open Sans"/>
              </a:rPr>
              <a:t>— behaviour and change over time.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Event </a:t>
            </a:r>
            <a:r>
              <a:rPr sz="1600">
                <a:solidFill>
                  <a:srgbClr val="2B2626"/>
                </a:solidFill>
                <a:latin typeface="Open Sans"/>
              </a:rPr>
              <a:t>— something that happens; can trigger a transition.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State </a:t>
            </a:r>
            <a:r>
              <a:rPr sz="1600">
                <a:solidFill>
                  <a:srgbClr val="2B2626"/>
                </a:solidFill>
                <a:latin typeface="Open Sans"/>
              </a:rPr>
              <a:t>— a condition of an object over time.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Transition + guard </a:t>
            </a:r>
            <a:r>
              <a:rPr sz="1600">
                <a:solidFill>
                  <a:srgbClr val="2B2626"/>
                </a:solidFill>
                <a:latin typeface="Open Sans"/>
              </a:rPr>
              <a:t>— movement between states, gated by a condition.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Operation </a:t>
            </a:r>
            <a:r>
              <a:rPr sz="1600">
                <a:solidFill>
                  <a:srgbClr val="2B2626"/>
                </a:solidFill>
                <a:latin typeface="Open Sans"/>
              </a:rPr>
              <a:t>— behaviour/service that can change state.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Concurrency </a:t>
            </a:r>
            <a:r>
              <a:rPr sz="1600">
                <a:solidFill>
                  <a:srgbClr val="2B2626"/>
                </a:solidFill>
                <a:latin typeface="Open Sans"/>
              </a:rPr>
              <a:t>— activities in parallel or overlapping.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Structure + dynamic </a:t>
            </a:r>
            <a:r>
              <a:rPr sz="1600">
                <a:solidFill>
                  <a:srgbClr val="2B2626"/>
                </a:solidFill>
                <a:latin typeface="Open Sans"/>
              </a:rPr>
              <a:t>— together, a complete object-oriented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Object -&gt; state -&gt; event -&gt; transition -&gt; new state — the heart of dynamic modelling.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Draw the ATM-withdrawal and bank-account state machines with guards, entry and exit behaviour.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Read every state machine you draw aloud as a story — then check the transitions make sense.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Build the online-order state machine in your CASE tool and add concurrent regions.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Behavioural Modelling — use cases, sequence, collaboration and activity diagrams.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