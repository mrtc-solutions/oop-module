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u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607" y="685800"/>
            <a:ext cx="1554480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377440"/>
            <a:ext cx="11277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E4C97C"/>
                </a:solidFill>
                <a:latin typeface="Poppins"/>
              </a:rPr>
              <a:t>EXPLOITS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AF6EC"/>
                </a:solidFill>
                <a:latin typeface="Open Sans"/>
              </a:rPr>
              <a:t>BSc INFORMATION COMMUNICATION AND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C9A227"/>
                </a:solidFill>
                <a:latin typeface="Poppins"/>
              </a:rPr>
              <a:t>BICT 3202 · OBJECT-ORIENTED ANALYSIS AND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Poppins"/>
              </a:rPr>
              <a:t>WEEK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92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FAF6EC"/>
                </a:solidFill>
                <a:latin typeface="Poppins"/>
              </a:rPr>
              <a:t>Object-Oriented Analysis — Dynamic Modelling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Francis Fweta  ·  ICT Lecturer  ·  Week 7 of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By the end of this week, you should be able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7 · Slide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Define </a:t>
            </a:r>
            <a:r>
              <a:rPr sz="1700">
                <a:solidFill>
                  <a:srgbClr val="2B2626"/>
                </a:solidFill>
                <a:latin typeface="Open Sans"/>
              </a:rPr>
              <a:t>dynamic modelling and explain why behaviour must be modelled.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Define </a:t>
            </a:r>
            <a:r>
              <a:rPr sz="1700">
                <a:solidFill>
                  <a:srgbClr val="2B2626"/>
                </a:solidFill>
                <a:latin typeface="Open Sans"/>
              </a:rPr>
              <a:t>events and states, and tell them apart.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700">
                <a:solidFill>
                  <a:srgbClr val="2B2626"/>
                </a:solidFill>
                <a:latin typeface="Open Sans"/>
              </a:rPr>
              <a:t>transitions, initial/final states and guards.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700">
                <a:solidFill>
                  <a:srgbClr val="2B2626"/>
                </a:solidFill>
                <a:latin typeface="Open Sans"/>
              </a:rPr>
              <a:t>entry, exit and do behaviour.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Distinguish </a:t>
            </a:r>
            <a:r>
              <a:rPr sz="1700">
                <a:solidFill>
                  <a:srgbClr val="2B2626"/>
                </a:solidFill>
                <a:latin typeface="Open Sans"/>
              </a:rPr>
              <a:t>operations from events, and explain state change.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700">
                <a:solidFill>
                  <a:srgbClr val="2B2626"/>
                </a:solidFill>
                <a:latin typeface="Open Sans"/>
              </a:rPr>
              <a:t>concurrency and model concurrent states.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Relate </a:t>
            </a:r>
            <a:r>
              <a:rPr sz="1700">
                <a:solidFill>
                  <a:srgbClr val="2B2626"/>
                </a:solidFill>
                <a:latin typeface="Open Sans"/>
              </a:rPr>
              <a:t>structural and dynamic models.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Use </a:t>
            </a:r>
            <a:r>
              <a:rPr sz="1700">
                <a:solidFill>
                  <a:srgbClr val="2B2626"/>
                </a:solidFill>
                <a:latin typeface="Open Sans"/>
              </a:rPr>
              <a:t>a CASE tool to build and inspect a state machine.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Week 7 moves from “what exists” to “what happens over time.”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Structural vs Dynamic Modelling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What exists vs what happens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7 · Slide 2</a:t>
            </a:r>
          </a:p>
        </p:txBody>
      </p:sp>
      <p:pic>
        <p:nvPicPr>
          <p:cNvPr id="9" name="Picture 8" descr="w7_structural_vs_dyna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Structural = classes, attributes, associations · Dynamic = events, states, transitions.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Car Analogy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Design/parts vs behaviour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7 · Slide 3</a:t>
            </a:r>
          </a:p>
        </p:txBody>
      </p:sp>
      <p:pic>
        <p:nvPicPr>
          <p:cNvPr id="9" name="Picture 8" descr="w7_car_an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 class diagram tells us the parts; the state machine tells us what happens.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What Is an Event?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Something that happens — to which the system responds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7 · Slide 4</a:t>
            </a:r>
          </a:p>
        </p:txBody>
      </p:sp>
      <p:pic>
        <p:nvPicPr>
          <p:cNvPr id="9" name="Picture 8" descr="w7_ev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30787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User · system · external · data events — e.g. click Login, timer expires, payment received.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Event vs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 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7 · Slide 5</a:t>
            </a:r>
          </a:p>
        </p:txBody>
      </p:sp>
      <p:pic>
        <p:nvPicPr>
          <p:cNvPr id="9" name="Picture 8" descr="w7_event_vs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463040"/>
            <a:ext cx="9509760" cy="4754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Event = something happens · State = something is. PaymentReceived ≠ Paid.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Order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An object changes state as events occur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7 · Slide 6</a:t>
            </a:r>
          </a:p>
        </p:txBody>
      </p:sp>
      <p:pic>
        <p:nvPicPr>
          <p:cNvPr id="9" name="Picture 8" descr="w7_order_st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61554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Pending → Paid → Processing → Shipped → Delivered — read it as a story.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State-Machine Notation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Initial · states · transitions ·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7 · Slide 7</a:t>
            </a:r>
          </a:p>
        </p:txBody>
      </p:sp>
      <p:pic>
        <p:nvPicPr>
          <p:cNvPr id="9" name="Picture 8" descr="w7_no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30787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Filled circle begins the lifecycle; the bull's-eye ends it; arrows carry events.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Guards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Conditions on transitions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7 · Slide 8</a:t>
            </a:r>
          </a:p>
        </p:txBody>
      </p:sp>
      <p:pic>
        <p:nvPicPr>
          <p:cNvPr id="9" name="Picture 8" descr="w7_gu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30787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[balance sufficient] → Cash Dispensed · [balance insufficient] → Insufficient Funds.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Entry, Exit and Do Behaviour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Behaviour attached to a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7 · Slide 9</a:t>
            </a:r>
          </a:p>
        </p:txBody>
      </p:sp>
      <p:pic>
        <p:nvPicPr>
          <p:cNvPr id="9" name="Picture 8" descr="w7_entry_exit_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07709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entry / on arrival · exit / on leaving · do / while inside the state.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 Complete State Machine — Payment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Read it as a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7 · Slide 10</a:t>
            </a:r>
          </a:p>
        </p:txBody>
      </p:sp>
      <p:pic>
        <p:nvPicPr>
          <p:cNvPr id="9" name="Picture 8" descr="w7_payment_st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Pending → Processing → (success: Paid | failure: Failed).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Operation vs Event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Another common confusion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7 · Slide 11</a:t>
            </a:r>
          </a:p>
        </p:txBody>
      </p:sp>
      <p:pic>
        <p:nvPicPr>
          <p:cNvPr id="9" name="Picture 8" descr="w7_operation_vs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463040"/>
            <a:ext cx="9509760" cy="4754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Operation = can be invoked (calculateTotal()) · Event = occurs (PaymentReceived).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Operations Can Change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An ATM's operations move it between states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7 · Slide 12</a:t>
            </a:r>
          </a:p>
        </p:txBody>
      </p:sp>
      <p:pic>
        <p:nvPicPr>
          <p:cNvPr id="9" name="Picture 8" descr="w7_operation_state_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8463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insertCard(): Idle → Card Inserted · ejectCard(): Card Inserted → Idle.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Sequential vs Concurrent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One-after-another vs at-the-same-time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7 · Slide 13</a:t>
            </a:r>
          </a:p>
        </p:txBody>
      </p:sp>
      <p:pic>
        <p:nvPicPr>
          <p:cNvPr id="9" name="Picture 8" descr="w7_concurr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After placing an order: payment, preparation and driver assignment can overlap.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Concurrency in Real Life — Airport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Two activities at 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7 · Slide 14</a:t>
            </a:r>
          </a:p>
        </p:txBody>
      </p:sp>
      <p:pic>
        <p:nvPicPr>
          <p:cNvPr id="9" name="Picture 8" descr="w7_air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07709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Security screening and baggage processing run concurrently, then join before boarding.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UML Concurrent Regions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 composite state with parallel regions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7 · Slide 15</a:t>
            </a:r>
          </a:p>
        </p:txBody>
      </p:sp>
      <p:pic>
        <p:nvPicPr>
          <p:cNvPr id="9" name="Picture 8" descr="w7_concurrent_reg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Order Processing = Payment region + Delivery region, joining at Completed.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Two Models That Complement Each Other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ATM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7 · Slide 16</a:t>
            </a:r>
          </a:p>
        </p:txBody>
      </p:sp>
      <p:pic>
        <p:nvPicPr>
          <p:cNvPr id="9" name="Picture 8" descr="w7_atm_bo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Neither replaces the other — structure + behaviour = complete understanding.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Dynamic Models Reveal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Impossible transitions surface requirements gaps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7 · Slide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A class diagram </a:t>
            </a:r>
            <a:r>
              <a:rPr sz="1700">
                <a:solidFill>
                  <a:srgbClr val="2B2626"/>
                </a:solidFill>
                <a:latin typeface="Open Sans"/>
              </a:rPr>
              <a:t>shows Order with cancelOrder() — but when is it allowed?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The state machine </a:t>
            </a:r>
            <a:r>
              <a:rPr sz="1700">
                <a:solidFill>
                  <a:srgbClr val="2B2626"/>
                </a:solidFill>
                <a:latin typeface="Open Sans"/>
              </a:rPr>
              <a:t>shows Delivered → Cancelled, which may not make business sense.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Correct rule: </a:t>
            </a:r>
            <a:r>
              <a:rPr sz="1700">
                <a:solidFill>
                  <a:srgbClr val="2B2626"/>
                </a:solidFill>
                <a:latin typeface="Open Sans"/>
              </a:rPr>
              <a:t>Pending/Paid/Processing → Cancelled; Shipped/Delivered → Return process.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/>
            </a:r>
            <a:r>
              <a:rPr sz="1700">
                <a:solidFill>
                  <a:srgbClr val="2B2626"/>
                </a:solidFill>
                <a:latin typeface="Open Sans"/>
              </a:rPr>
              <a:t/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Modelling behaviour </a:t>
            </a:r>
            <a:r>
              <a:rPr sz="1700">
                <a:solidFill>
                  <a:srgbClr val="2B2626"/>
                </a:solidFill>
                <a:latin typeface="Open Sans"/>
              </a:rPr>
              <a:t>exposes requirements problems before implementation.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That is a key reason analysts model behaviour, not just structure.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Complete Example — Hospital Appointment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 full state machine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7 · Slide 18</a:t>
            </a:r>
          </a:p>
        </p:txBody>
      </p:sp>
      <p:pic>
        <p:nvPicPr>
          <p:cNvPr id="9" name="Picture 8" descr="w7_hospi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Requested → Confirmed → Checked In → Waiting → With Doctor → Completed (or Cancelled).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State vs Class vs Object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Three distinct ideas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7 · Slide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Class </a:t>
            </a:r>
            <a:r>
              <a:rPr sz="1700">
                <a:solidFill>
                  <a:srgbClr val="2B2626"/>
                </a:solidFill>
                <a:latin typeface="Open Sans"/>
              </a:rPr>
              <a:t>— a blueprint/type: Order.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Object </a:t>
            </a:r>
            <a:r>
              <a:rPr sz="1700">
                <a:solidFill>
                  <a:srgbClr val="2B2626"/>
                </a:solidFill>
                <a:latin typeface="Open Sans"/>
              </a:rPr>
              <a:t>— a specific instance: order1024.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State </a:t>
            </a:r>
            <a:r>
              <a:rPr sz="1700">
                <a:solidFill>
                  <a:srgbClr val="2B2626"/>
                </a:solidFill>
                <a:latin typeface="Open Sans"/>
              </a:rPr>
              <a:t>— the condition of that object: Paid.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Event </a:t>
            </a:r>
            <a:r>
              <a:rPr sz="1700">
                <a:solidFill>
                  <a:srgbClr val="2B2626"/>
                </a:solidFill>
                <a:latin typeface="Open Sans"/>
              </a:rPr>
              <a:t>— something that happens: PaymentReceived.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/>
            </a:r>
            <a:r>
              <a:rPr sz="1700">
                <a:solidFill>
                  <a:srgbClr val="2B2626"/>
                </a:solidFill>
                <a:latin typeface="Open Sans"/>
              </a:rPr>
              <a:t/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Order #1001 → Paid · #1002 → Pending · #1003 → Shipped</a:t>
            </a:r>
            <a:r>
              <a:rPr sz="1700">
                <a:solidFill>
                  <a:srgbClr val="2B2626"/>
                </a:solidFill>
                <a:latin typeface="Open Sans"/>
              </a:rPr>
              <a:t>— same class, different states.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 state describes the current condition of an object during its lifecycle.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State Machine vs Flowchart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They are not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7 · Slide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Flowchart thinking </a:t>
            </a:r>
            <a:r>
              <a:rPr sz="1600">
                <a:solidFill>
                  <a:srgbClr val="2B2626"/>
                </a:solidFill>
                <a:latin typeface="Open Sans"/>
              </a:rPr>
              <a:t>— procedural flow: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Calculate total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Check payment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Print receipt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/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State-machine thinking </a:t>
            </a:r>
            <a:r>
              <a:rPr sz="1600">
                <a:solidFill>
                  <a:srgbClr val="2B2626"/>
                </a:solidFill>
                <a:latin typeface="Open Sans"/>
              </a:rPr>
              <a:t>— lifecycle of an object: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Pending → (PaymentReceived) → Paid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Paid → (Dispatched) → Shipped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focuses on states + events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 state machine is about an entity's states and event-driven transitions — not procedural steps.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Traffic 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 simple state machine — and intersection concurrency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7 · Slide 21</a:t>
            </a:r>
          </a:p>
        </p:txBody>
      </p:sp>
      <p:pic>
        <p:nvPicPr>
          <p:cNvPr id="9" name="Picture 8" descr="w7_traffic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8463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Red → Green → Yellow → Red; at an intersection, two controllers coordinate concurrently.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Practical Lab — Online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Build a full state machine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7 · Slide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States: </a:t>
            </a:r>
            <a:r>
              <a:rPr sz="1600">
                <a:solidFill>
                  <a:srgbClr val="2B2626"/>
                </a:solidFill>
                <a:latin typeface="Open Sans"/>
              </a:rPr>
              <a:t>New · Pending Payment · Paid · Processing · Shipped · Delivered · Cancelled · Returned.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Events: </a:t>
            </a:r>
            <a:r>
              <a:rPr sz="1600">
                <a:solidFill>
                  <a:srgbClr val="2B2626"/>
                </a:solidFill>
                <a:latin typeface="Open Sans"/>
              </a:rPr>
              <a:t>placeOrder · paymentConfirmed · dispatchOrder · deliverOrder · cancelOrder · requestReturn.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Guards: </a:t>
            </a:r>
            <a:r>
              <a:rPr sz="1600">
                <a:solidFill>
                  <a:srgbClr val="2B2626"/>
                </a:solidFill>
                <a:latin typeface="Open Sans"/>
              </a:rPr>
              <a:t>requestReturn [within return period].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Entry behaviour: </a:t>
            </a:r>
            <a:r>
              <a:rPr sz="1600">
                <a:solidFill>
                  <a:srgbClr val="2B2626"/>
                </a:solidFill>
                <a:latin typeface="Open Sans"/>
              </a:rPr>
              <a:t>entry / sendNotification() on Paid · entry / notifyCustomer() on Shipped.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Add guards and entry behaviour — then explain what happens on entering each state.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Common Student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Avoid these five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7 · Slide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Event as a state </a:t>
            </a:r>
            <a:r>
              <a:rPr sz="1600">
                <a:solidFill>
                  <a:srgbClr val="2B2626"/>
                </a:solidFill>
                <a:latin typeface="Open Sans"/>
              </a:rPr>
              <a:t>— PaymentReceived is an event, not [PaymentReceived].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Operation as a state </a:t>
            </a:r>
            <a:r>
              <a:rPr sz="1600">
                <a:solidFill>
                  <a:srgbClr val="2B2626"/>
                </a:solidFill>
                <a:latin typeface="Open Sans"/>
              </a:rPr>
              <a:t>— processPayment() is an operation, not [ProcessPayment].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Forgetting the object </a:t>
            </a:r>
            <a:r>
              <a:rPr sz="1600">
                <a:solidFill>
                  <a:srgbClr val="2B2626"/>
                </a:solidFill>
                <a:latin typeface="Open Sans"/>
              </a:rPr>
              <a:t>— whose state are we describing?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Impossible transitions </a:t>
            </a:r>
            <a:r>
              <a:rPr sz="1600">
                <a:solidFill>
                  <a:srgbClr val="2B2626"/>
                </a:solidFill>
                <a:latin typeface="Open Sans"/>
              </a:rPr>
              <a:t>— Delivered → Paid may make no sense.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A state for every action </a:t>
            </a:r>
            <a:r>
              <a:rPr sz="1600">
                <a:solidFill>
                  <a:srgbClr val="2B2626"/>
                </a:solidFill>
                <a:latin typeface="Open Sans"/>
              </a:rPr>
              <a:t>— “Click Button” is an event, not a state.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If you cannot explain the diagram in words, you probably don't understand the model.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Week 7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essentials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7 · Slide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Dynamic modelling </a:t>
            </a:r>
            <a:r>
              <a:rPr sz="1600">
                <a:solidFill>
                  <a:srgbClr val="2B2626"/>
                </a:solidFill>
                <a:latin typeface="Open Sans"/>
              </a:rPr>
              <a:t>— behaviour and change over time.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Event </a:t>
            </a:r>
            <a:r>
              <a:rPr sz="1600">
                <a:solidFill>
                  <a:srgbClr val="2B2626"/>
                </a:solidFill>
                <a:latin typeface="Open Sans"/>
              </a:rPr>
              <a:t>— something that happens; can trigger a transition.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State </a:t>
            </a:r>
            <a:r>
              <a:rPr sz="1600">
                <a:solidFill>
                  <a:srgbClr val="2B2626"/>
                </a:solidFill>
                <a:latin typeface="Open Sans"/>
              </a:rPr>
              <a:t>— a condition of an object over time.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Transition + guard </a:t>
            </a:r>
            <a:r>
              <a:rPr sz="1600">
                <a:solidFill>
                  <a:srgbClr val="2B2626"/>
                </a:solidFill>
                <a:latin typeface="Open Sans"/>
              </a:rPr>
              <a:t>— movement between states, gated by a condition.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Operation </a:t>
            </a:r>
            <a:r>
              <a:rPr sz="1600">
                <a:solidFill>
                  <a:srgbClr val="2B2626"/>
                </a:solidFill>
                <a:latin typeface="Open Sans"/>
              </a:rPr>
              <a:t>— behaviour/service that can change state.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Concurrency </a:t>
            </a:r>
            <a:r>
              <a:rPr sz="1600">
                <a:solidFill>
                  <a:srgbClr val="2B2626"/>
                </a:solidFill>
                <a:latin typeface="Open Sans"/>
              </a:rPr>
              <a:t>— activities in parallel or overlapping.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Structure + dynamic </a:t>
            </a:r>
            <a:r>
              <a:rPr sz="1600">
                <a:solidFill>
                  <a:srgbClr val="2B2626"/>
                </a:solidFill>
                <a:latin typeface="Open Sans"/>
              </a:rPr>
              <a:t>— together, a complete object-oriented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Object → state → event → transition → new state — the heart of dynamic modelling.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C9A227"/>
                </a:solidFill>
                <a:latin typeface="Poppins"/>
              </a:rPr>
              <a:t>REVISION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Draw the ATM-withdrawal and bank-account state machines with guards, entry and exit behaviour.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Read every state machine you draw aloud as a story — then check the transitions make sense.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Build the online-order state machine in your CASE tool and add concurrent regions.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Next week: Behavioural Modelling — use cases, sequence, collaboration and activity diagrams.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Thank you — Francis Fweta · ICT Lecturer · Exploits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