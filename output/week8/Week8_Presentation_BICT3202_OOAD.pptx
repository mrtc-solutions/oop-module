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68580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377440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4C97C"/>
                </a:solidFill>
                <a:latin typeface="Poppins"/>
              </a:rPr>
              <a:t>EXPLOITS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AF6EC"/>
                </a:solidFill>
                <a:latin typeface="Open Sans"/>
              </a:rPr>
              <a:t>BSc INFORMATION COMMUNICATION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Poppins"/>
              </a:rPr>
              <a:t>BICT 3202 · OBJECT-ORIENTED ANALYSIS AND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Poppins"/>
              </a:rPr>
              <a:t>WEEK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AF6EC"/>
                </a:solidFill>
                <a:latin typeface="Poppins"/>
              </a:rPr>
              <a:t>Object-Oriented Analysis — Behavioural Modelling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Francis Fweta  ·  ICT Lecturer  ·  Week 8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By the end of this week, you should be able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Define </a:t>
            </a:r>
            <a:r>
              <a:rPr sz="1700">
                <a:solidFill>
                  <a:srgbClr val="2B2626"/>
                </a:solidFill>
                <a:latin typeface="Open Sans"/>
              </a:rPr>
              <a:t>behavioural modelling and why it matters.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Identify </a:t>
            </a:r>
            <a:r>
              <a:rPr sz="1700">
                <a:solidFill>
                  <a:srgbClr val="2B2626"/>
                </a:solidFill>
                <a:latin typeface="Open Sans"/>
              </a:rPr>
              <a:t>use cases and actors; build a use case diagram.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700">
                <a:solidFill>
                  <a:srgbClr val="2B2626"/>
                </a:solidFill>
                <a:latin typeface="Open Sans"/>
              </a:rPr>
              <a:t>the system boundary and include/extend/generalisation.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Write </a:t>
            </a:r>
            <a:r>
              <a:rPr sz="1700">
                <a:solidFill>
                  <a:srgbClr val="2B2626"/>
                </a:solidFill>
                <a:latin typeface="Open Sans"/>
              </a:rPr>
              <a:t>a detailed use-case specification.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Construct </a:t>
            </a:r>
            <a:r>
              <a:rPr sz="1700">
                <a:solidFill>
                  <a:srgbClr val="2B2626"/>
                </a:solidFill>
                <a:latin typeface="Open Sans"/>
              </a:rPr>
              <a:t>sequence diagrams (lifelines, activation bars, messages).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Construct </a:t>
            </a:r>
            <a:r>
              <a:rPr sz="1700">
                <a:solidFill>
                  <a:srgbClr val="2B2626"/>
                </a:solidFill>
                <a:latin typeface="Open Sans"/>
              </a:rPr>
              <a:t>communication diagrams and activity diagrams (decisions, swimlanes).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Connect </a:t>
            </a:r>
            <a:r>
              <a:rPr sz="1700">
                <a:solidFill>
                  <a:srgbClr val="2B2626"/>
                </a:solidFill>
                <a:latin typeface="Open Sans"/>
              </a:rPr>
              <a:t>use cases, activities and interactions into analysis documentation.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Week 8: how users and objects interact to accomplish tasks.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Behavioural Modelling Family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Each diagram answers a different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2</a:t>
            </a:r>
          </a:p>
        </p:txBody>
      </p:sp>
      <p:pic>
        <p:nvPicPr>
          <p:cNvPr id="9" name="Picture 8" descr="w8_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Use cases = goals · interactions = messages · activities =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What Question Does Each Diagram Answer?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Very important for examinations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3</a:t>
            </a:r>
          </a:p>
        </p:txBody>
      </p:sp>
      <p:pic>
        <p:nvPicPr>
          <p:cNvPr id="9" name="Picture 8" descr="w8_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Choose the diagram by the question you are trying to answer.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What Is a Use Case?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goal, not a function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4</a:t>
            </a:r>
          </a:p>
        </p:txBody>
      </p:sp>
      <p:pic>
        <p:nvPicPr>
          <p:cNvPr id="9" name="Picture 8" descr="w8_use_case_go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“Register for Course” is the goal — “Click Register Button” is only an interface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Roles outside the system — not always people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5</a:t>
            </a:r>
          </a:p>
        </p:txBody>
      </p:sp>
      <p:pic>
        <p:nvPicPr>
          <p:cNvPr id="9" name="Picture 8" descr="w8_actor_hu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Payment Gateway external to the system is an actor too.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 Use Case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Actors · use cases · system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6</a:t>
            </a:r>
          </a:p>
        </p:txBody>
      </p:sp>
      <p:pic>
        <p:nvPicPr>
          <p:cNvPr id="9" name="Picture 8" descr="w8_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rectangle is the system boundary — actors outside, use cases inside.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Use Case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Association · include · extend · generalisation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7</a:t>
            </a:r>
          </a:p>
        </p:txBody>
      </p:sp>
      <p:pic>
        <p:nvPicPr>
          <p:cNvPr id="9" name="Picture 8" descr="w8_relations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include = required · extend = conditional · generalisation = is-a.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include vs extend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An examination favourite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8</a:t>
            </a:r>
          </a:p>
        </p:txBody>
      </p:sp>
      <p:pic>
        <p:nvPicPr>
          <p:cNvPr id="9" name="Picture 8" descr="w8_include_ex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52845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INCLUDE = “I need this as part of the job” · EXTEND = “I might add this.”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Use Case 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diagram is not enough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9</a:t>
            </a:r>
          </a:p>
        </p:txBody>
      </p:sp>
      <p:pic>
        <p:nvPicPr>
          <p:cNvPr id="9" name="Picture 8" descr="w8_spec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Capture the main scenario AND the alternative/exception paths.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Sequence Diagram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Lifelines · activation bars · messages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10</a:t>
            </a:r>
          </a:p>
        </p:txBody>
      </p:sp>
      <p:pic>
        <p:nvPicPr>
          <p:cNvPr id="9" name="Picture 8" descr="w8_sequence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Read top to bottom — time flows downward.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Sequence Diagram — 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Who communicates with whom, in what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11</a:t>
            </a:r>
          </a:p>
        </p:txBody>
      </p:sp>
      <p:pic>
        <p:nvPicPr>
          <p:cNvPr id="9" name="Picture 8" descr="w8_sequence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Order matters — you cannot confirm login before validating credentials.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Combined Fragments — alt, loop, 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Alternatives, repetition, optional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12</a:t>
            </a:r>
          </a:p>
        </p:txBody>
      </p:sp>
      <p:pic>
        <p:nvPicPr>
          <p:cNvPr id="9" name="Picture 8" descr="w8_fra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alt = branch by guard · loop = repeat · opt = run only if true.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Communication (Collaboration)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Objects + numbered messages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13</a:t>
            </a:r>
          </a:p>
        </p:txBody>
      </p:sp>
      <p:pic>
        <p:nvPicPr>
          <p:cNvPr id="9" name="Picture 8" descr="w8_commun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07709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Numbers 1, 2, 3, 4 show order; older name = collaboration diagram.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Sequence vs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Same interaction, different emphasis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14</a:t>
            </a:r>
          </a:p>
        </p:txBody>
      </p:sp>
      <p:pic>
        <p:nvPicPr>
          <p:cNvPr id="9" name="Picture 8" descr="w8_seq_vs_co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52845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Sequence = time/order · Communication = objects and their links.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Activity Diagram Notation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Initial · actions · decision · fork/join ·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15</a:t>
            </a:r>
          </a:p>
        </p:txBody>
      </p:sp>
      <p:pic>
        <p:nvPicPr>
          <p:cNvPr id="9" name="Picture 8" descr="w8_activity_no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30787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diamond is a decision; thick bars are fork (split) and join (synchronise).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Activity Diagram — Online Shopping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workflow with a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16</a:t>
            </a:r>
          </a:p>
        </p:txBody>
      </p:sp>
      <p:pic>
        <p:nvPicPr>
          <p:cNvPr id="9" name="Picture 8" descr="w8_activity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After payment: [successful] → Create Order · [failed] → Show Error.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Swimlanes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Who is responsible for each activity?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17</a:t>
            </a:r>
          </a:p>
        </p:txBody>
      </p:sp>
      <p:pic>
        <p:nvPicPr>
          <p:cNvPr id="9" name="Picture 8" descr="w8_swimla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Student selects/confirms; System checks prerequisites and creates the registration.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How the Models Work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Requirement → design, with traceability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18</a:t>
            </a:r>
          </a:p>
        </p:txBody>
      </p:sp>
      <p:pic>
        <p:nvPicPr>
          <p:cNvPr id="9" name="Picture 8" descr="w8_trace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19248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Use case → activity → sequence → communication → analysis model → design.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 Full Example — Assignment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Four models, one requirement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Use case: </a:t>
            </a:r>
            <a:r>
              <a:rPr sz="1600">
                <a:solidFill>
                  <a:srgbClr val="2B2626"/>
                </a:solidFill>
                <a:latin typeface="Open Sans"/>
              </a:rPr>
              <a:t>Submit Assignment (actor: Student).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Specification: </a:t>
            </a:r>
            <a:r>
              <a:rPr sz="1600">
                <a:solidFill>
                  <a:srgbClr val="2B2626"/>
                </a:solidFill>
                <a:latin typeface="Open Sans"/>
              </a:rPr>
              <a:t>log in → open course → select assignment → upload → validate → submit → confirm.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Activity: </a:t>
            </a:r>
            <a:r>
              <a:rPr sz="1600">
                <a:solidFill>
                  <a:srgbClr val="2B2626"/>
                </a:solidFill>
                <a:latin typeface="Open Sans"/>
              </a:rPr>
              <a:t>Login → Open Course → Upload File → (valid? Submit : Show Error) → Confirm.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Sequence: </a:t>
            </a:r>
            <a:r>
              <a:rPr sz="1600">
                <a:solidFill>
                  <a:srgbClr val="2B2626"/>
                </a:solidFill>
                <a:latin typeface="Open Sans"/>
              </a:rPr>
              <a:t>Student → Web UI → Assignment Controller → Database.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Communication: </a:t>
            </a:r>
            <a:r>
              <a:rPr sz="1600">
                <a:solidFill>
                  <a:srgbClr val="2B2626"/>
                </a:solidFill>
                <a:latin typeface="Open Sans"/>
              </a:rPr>
              <a:t>1: upload, 2: submit, 3: validate, 4: save, 5: confirmation.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same requirement described from different perspectives — that is behavioural analysis.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Full Analysis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Everything that explains what the system must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Contents: </a:t>
            </a:r>
            <a:r>
              <a:rPr sz="1600">
                <a:solidFill>
                  <a:srgbClr val="2B2626"/>
                </a:solidFill>
                <a:latin typeface="Open Sans"/>
              </a:rPr>
              <a:t>problem statement, requirements, actors, use cases + specifications, activity, sequence, communication, class and state diagrams, assumptions, constraints, business rules, glossary.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Why it matters: </a:t>
            </a:r>
            <a:r>
              <a:rPr sz="1600">
                <a:solidFill>
                  <a:srgbClr val="2B2626"/>
                </a:solidFill>
                <a:latin typeface="Open Sans"/>
              </a:rPr>
              <a:t>client, analyst, designer, programmer, tester and manager all need a common language.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Traceability: </a:t>
            </a:r>
            <a:r>
              <a:rPr sz="1600">
                <a:solidFill>
                  <a:srgbClr val="2B2626"/>
                </a:solidFill>
                <a:latin typeface="Open Sans"/>
              </a:rPr>
              <a:t>REQ-05 → UC-05 → activity model → sequence model → design → test cases.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Documentation creates traceability from requirement to test.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Common Confusions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Five distinctions to master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Use case vs diagram </a:t>
            </a:r>
            <a:r>
              <a:rPr sz="1600">
                <a:solidFill>
                  <a:srgbClr val="2B2626"/>
                </a:solidFill>
                <a:latin typeface="Open Sans"/>
              </a:rPr>
              <a:t>— a goal vs the visual representation.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Use case vs activity </a:t>
            </a:r>
            <a:r>
              <a:rPr sz="1600">
                <a:solidFill>
                  <a:srgbClr val="2B2626"/>
                </a:solidFill>
                <a:latin typeface="Open Sans"/>
              </a:rPr>
              <a:t>— what goal vs what workflow.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Activity vs sequence </a:t>
            </a:r>
            <a:r>
              <a:rPr sz="1600">
                <a:solidFill>
                  <a:srgbClr val="2B2626"/>
                </a:solidFill>
                <a:latin typeface="Open Sans"/>
              </a:rPr>
              <a:t>— workflow vs messages over time.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Sequence vs communication </a:t>
            </a:r>
            <a:r>
              <a:rPr sz="1600">
                <a:solidFill>
                  <a:srgbClr val="2B2626"/>
                </a:solidFill>
                <a:latin typeface="Open Sans"/>
              </a:rPr>
              <a:t>— time/order vs objects/links.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Actor vs class </a:t>
            </a:r>
            <a:r>
              <a:rPr sz="1600">
                <a:solidFill>
                  <a:srgbClr val="2B2626"/>
                </a:solidFill>
                <a:latin typeface="Open Sans"/>
              </a:rPr>
              <a:t>— external role vs a type inside the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These distinctions are examination favourites.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Practical Lab — Course 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Five tasks, one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1. Use case diagram </a:t>
            </a:r>
            <a:r>
              <a:rPr sz="1600">
                <a:solidFill>
                  <a:srgbClr val="2B2626"/>
                </a:solidFill>
                <a:latin typeface="Open Sans"/>
              </a:rPr>
              <a:t>— boundary, 4+ actors, 8+ use cases, include/extend/generalisation.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2. Specification </a:t>
            </a:r>
            <a:r>
              <a:rPr sz="1600">
                <a:solidFill>
                  <a:srgbClr val="2B2626"/>
                </a:solidFill>
                <a:latin typeface="Open Sans"/>
              </a:rPr>
              <a:t>— full document for Register Course.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3. Activity diagram </a:t>
            </a:r>
            <a:r>
              <a:rPr sz="1600">
                <a:solidFill>
                  <a:srgbClr val="2B2626"/>
                </a:solidFill>
                <a:latin typeface="Open Sans"/>
              </a:rPr>
              <a:t>— decisions, alternatives, swimlanes.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4. Sequence diagram </a:t>
            </a:r>
            <a:r>
              <a:rPr sz="1600">
                <a:solidFill>
                  <a:srgbClr val="2B2626"/>
                </a:solidFill>
                <a:latin typeface="Open Sans"/>
              </a:rPr>
              <a:t>— 8+ messages: Student → UI → Controller → Database.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5. Communication diagram </a:t>
            </a:r>
            <a:r>
              <a:rPr sz="1600">
                <a:solidFill>
                  <a:srgbClr val="2B2626"/>
                </a:solidFill>
                <a:latin typeface="Open Sans"/>
              </a:rPr>
              <a:t>— the same scenario, numbered messages.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Then compare the sequence and communication diagrams — what changed in emphasis?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8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essentials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8 · Slide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Use case </a:t>
            </a:r>
            <a:r>
              <a:rPr sz="1600">
                <a:solidFill>
                  <a:srgbClr val="2B2626"/>
                </a:solidFill>
                <a:latin typeface="Open Sans"/>
              </a:rPr>
              <a:t>— the actor's goal; the diagram shows actors, use cases and the boundary.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include / extend </a:t>
            </a:r>
            <a:r>
              <a:rPr sz="1600">
                <a:solidFill>
                  <a:srgbClr val="2B2626"/>
                </a:solidFill>
                <a:latin typeface="Open Sans"/>
              </a:rPr>
              <a:t>— required/reused vs conditional/additional behaviour.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Sequence diagram </a:t>
            </a:r>
            <a:r>
              <a:rPr sz="1600">
                <a:solidFill>
                  <a:srgbClr val="2B2626"/>
                </a:solidFill>
                <a:latin typeface="Open Sans"/>
              </a:rPr>
              <a:t>— messages in time order.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Communication diagram </a:t>
            </a:r>
            <a:r>
              <a:rPr sz="1600">
                <a:solidFill>
                  <a:srgbClr val="2B2626"/>
                </a:solidFill>
                <a:latin typeface="Open Sans"/>
              </a:rPr>
              <a:t>— objects and numbered messages.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Activity diagram </a:t>
            </a:r>
            <a:r>
              <a:rPr sz="1600">
                <a:solidFill>
                  <a:srgbClr val="2B2626"/>
                </a:solidFill>
                <a:latin typeface="Open Sans"/>
              </a:rPr>
              <a:t>— workflow with decisions, forks/joins and swimlanes.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Documentation </a:t>
            </a:r>
            <a:r>
              <a:rPr sz="1600">
                <a:solidFill>
                  <a:srgbClr val="2B2626"/>
                </a:solidFill>
                <a:latin typeface="Open Sans"/>
              </a:rPr>
              <a:t>— all models together, with traceability.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system is behaviours performed by users and objects working together to reach goals.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C9A227"/>
                </a:solidFill>
                <a:latin typeface="Poppins"/>
              </a:rPr>
              <a:t>REVISION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Model the ATM system: actors, use cases, include/extend, one specification, activity and sequence diagrams.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Practise include vs extend until the memory trick is automatic.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Draw sequence and communication diagrams for the same scenario and compare them.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Next week: The Unified Software Development Process (USDP/UP) — phases, workflows and artefacts.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Thank you — Francis Fweta · ICT Lecturer · Exploits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