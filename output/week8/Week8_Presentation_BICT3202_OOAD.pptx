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Object-Oriented Analysis — Behavioural Modelling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8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700">
                <a:solidFill>
                  <a:srgbClr val="2B2626"/>
                </a:solidFill>
                <a:latin typeface="Open Sans"/>
              </a:rPr>
              <a:t>behavioural modelling and why it matters.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Identify </a:t>
            </a:r>
            <a:r>
              <a:rPr sz="1700">
                <a:solidFill>
                  <a:srgbClr val="2B2626"/>
                </a:solidFill>
                <a:latin typeface="Open Sans"/>
              </a:rPr>
              <a:t>use cases and actors; build a use case diagram.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the system boundary and include/extend/generalisation.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Write </a:t>
            </a:r>
            <a:r>
              <a:rPr sz="1700">
                <a:solidFill>
                  <a:srgbClr val="2B2626"/>
                </a:solidFill>
                <a:latin typeface="Open Sans"/>
              </a:rPr>
              <a:t>a detailed use-case specification.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Construct </a:t>
            </a:r>
            <a:r>
              <a:rPr sz="1700">
                <a:solidFill>
                  <a:srgbClr val="2B2626"/>
                </a:solidFill>
                <a:latin typeface="Open Sans"/>
              </a:rPr>
              <a:t>sequence diagrams (lifelines, activation bars, messages).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Construct </a:t>
            </a:r>
            <a:r>
              <a:rPr sz="1700">
                <a:solidFill>
                  <a:srgbClr val="2B2626"/>
                </a:solidFill>
                <a:latin typeface="Open Sans"/>
              </a:rPr>
              <a:t>communication diagrams and activity diagrams (decisions, swimlanes).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Connect </a:t>
            </a:r>
            <a:r>
              <a:rPr sz="1700">
                <a:solidFill>
                  <a:srgbClr val="2B2626"/>
                </a:solidFill>
                <a:latin typeface="Open Sans"/>
              </a:rPr>
              <a:t>use cases, activities and interactions into analysis documentation.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8: how users and objects interact to accomplish tasks.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Behavioural Modelling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Each diagram answers a different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2</a:t>
            </a:r>
          </a:p>
        </p:txBody>
      </p:sp>
      <p:pic>
        <p:nvPicPr>
          <p:cNvPr id="9" name="Picture 8" descr="w8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cases = goals · interactions = messages · activities =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What Question Does Each Diagram Answer?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Very important for examinations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3</a:t>
            </a:r>
          </a:p>
        </p:txBody>
      </p:sp>
      <p:pic>
        <p:nvPicPr>
          <p:cNvPr id="9" name="Picture 8" descr="w8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Choose the diagram by the question you are trying to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What Is a Use Case?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goal, not a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4</a:t>
            </a:r>
          </a:p>
        </p:txBody>
      </p:sp>
      <p:pic>
        <p:nvPicPr>
          <p:cNvPr id="9" name="Picture 8" descr="w8_use_case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“Register for Course” is the goal — “Click Register Button” is only an interface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Roles outside the system — not always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5</a:t>
            </a:r>
          </a:p>
        </p:txBody>
      </p:sp>
      <p:pic>
        <p:nvPicPr>
          <p:cNvPr id="9" name="Picture 8" descr="w8_actor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Payment Gateway external to the system is an actor too.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 Use Case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Actors · use cases · system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6</a:t>
            </a:r>
          </a:p>
        </p:txBody>
      </p:sp>
      <p:pic>
        <p:nvPicPr>
          <p:cNvPr id="9" name="Picture 8" descr="w8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rectangle is the system boundary — actors outside, use cases inside.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Use Case Relationships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Association · include · extend · generalisation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7</a:t>
            </a:r>
          </a:p>
        </p:txBody>
      </p:sp>
      <p:pic>
        <p:nvPicPr>
          <p:cNvPr id="9" name="Picture 8" descr="w8_relationsh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include = required · extend = conditional · generalisation = is-a.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include vs extend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An examination favourite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8</a:t>
            </a:r>
          </a:p>
        </p:txBody>
      </p:sp>
      <p:pic>
        <p:nvPicPr>
          <p:cNvPr id="9" name="Picture 8" descr="w8_include_ex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5284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INCLUDE = “I need this as part of the job” · EXTEND = “I might add this.”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Use Case Specifications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diagram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9</a:t>
            </a:r>
          </a:p>
        </p:txBody>
      </p:sp>
      <p:pic>
        <p:nvPicPr>
          <p:cNvPr id="9" name="Picture 8" descr="w8_spec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Capture the main scenario AND the alternative/exception paths.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 Diagram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Lifelines · activation bars · messages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10</a:t>
            </a:r>
          </a:p>
        </p:txBody>
      </p:sp>
      <p:pic>
        <p:nvPicPr>
          <p:cNvPr id="9" name="Picture 8" descr="w8_sequence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Read top to bottom — time flows downward.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 Diagram —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Who communicates with whom, in what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11</a:t>
            </a:r>
          </a:p>
        </p:txBody>
      </p:sp>
      <p:pic>
        <p:nvPicPr>
          <p:cNvPr id="9" name="Picture 8" descr="w8_sequence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Order matters — you cannot confirm login before validating credentials.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Combined Fragments — alt, loop, opt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Alternatives, repetition, optional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12</a:t>
            </a:r>
          </a:p>
        </p:txBody>
      </p:sp>
      <p:pic>
        <p:nvPicPr>
          <p:cNvPr id="9" name="Picture 8" descr="w8_fra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alt = branch by guard · loop = repeat · opt = run only if true.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Communication (Collaboration)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Objects + numbered messages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13</a:t>
            </a:r>
          </a:p>
        </p:txBody>
      </p:sp>
      <p:pic>
        <p:nvPicPr>
          <p:cNvPr id="9" name="Picture 8" descr="w8_commun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0770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Numbers 1, 2, 3, 4 show order; older name = collaboration diagram.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 vs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Same interaction, different emphasis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14</a:t>
            </a:r>
          </a:p>
        </p:txBody>
      </p:sp>
      <p:pic>
        <p:nvPicPr>
          <p:cNvPr id="9" name="Picture 8" descr="w8_seq_vs_co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5284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Sequence = time/order · Communication = objects and their links.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Activity Diagram 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Initial · actions · decision · fork/join ·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15</a:t>
            </a:r>
          </a:p>
        </p:txBody>
      </p:sp>
      <p:pic>
        <p:nvPicPr>
          <p:cNvPr id="9" name="Picture 8" descr="w8_activity_n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3078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diamond is a decision; thick bars are fork (split) and join (synchronise).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Activity Diagram — Online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workflow with a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16</a:t>
            </a:r>
          </a:p>
        </p:txBody>
      </p:sp>
      <p:pic>
        <p:nvPicPr>
          <p:cNvPr id="9" name="Picture 8" descr="w8_activity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After payment: [successful] -&gt; Create Order · [failed] -&gt; Show Error.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Swimlanes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Who is responsible for each activity?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17</a:t>
            </a:r>
          </a:p>
        </p:txBody>
      </p:sp>
      <p:pic>
        <p:nvPicPr>
          <p:cNvPr id="9" name="Picture 8" descr="w8_swim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Student selects/confirms; System checks prerequisites and creates the registration.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How the Models Work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Requirement -&gt; design, with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18</a:t>
            </a:r>
          </a:p>
        </p:txBody>
      </p:sp>
      <p:pic>
        <p:nvPicPr>
          <p:cNvPr id="9" name="Picture 8" descr="w8_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19248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case -&gt; activity -&gt; sequence -&gt; communication -&gt; analysis model -&gt; design.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 Full Example — Assignment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Four models, one 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 case: </a:t>
            </a:r>
            <a:r>
              <a:rPr sz="1600">
                <a:solidFill>
                  <a:srgbClr val="2B2626"/>
                </a:solidFill>
                <a:latin typeface="Open Sans"/>
              </a:rPr>
              <a:t>Submit Assignment (actor: Student).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Specification: </a:t>
            </a:r>
            <a:r>
              <a:rPr sz="1600">
                <a:solidFill>
                  <a:srgbClr val="2B2626"/>
                </a:solidFill>
                <a:latin typeface="Open Sans"/>
              </a:rPr>
              <a:t>log in -&gt; open course -&gt; select assignment -&gt; upload -&gt; validate -&gt; submit -&gt; confirm.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Activity: </a:t>
            </a:r>
            <a:r>
              <a:rPr sz="1600">
                <a:solidFill>
                  <a:srgbClr val="2B2626"/>
                </a:solidFill>
                <a:latin typeface="Open Sans"/>
              </a:rPr>
              <a:t>Login -&gt; Open Course -&gt; Upload File -&gt; (valid? Submit : Show Error) -&gt; Confirm.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Sequence: </a:t>
            </a:r>
            <a:r>
              <a:rPr sz="1600">
                <a:solidFill>
                  <a:srgbClr val="2B2626"/>
                </a:solidFill>
                <a:latin typeface="Open Sans"/>
              </a:rPr>
              <a:t>Student -&gt; Web UI -&gt; Assignment Controller -&gt; Database.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Communication: </a:t>
            </a:r>
            <a:r>
              <a:rPr sz="1600">
                <a:solidFill>
                  <a:srgbClr val="2B2626"/>
                </a:solidFill>
                <a:latin typeface="Open Sans"/>
              </a:rPr>
              <a:t>1: upload, 2: submit, 3: validate, 4: save, 5: confirmation.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same requirement described from different perspectives — that is behavioural analysis.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Full Analysis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Everything that explains what the system must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Contents: </a:t>
            </a:r>
            <a:r>
              <a:rPr sz="1600">
                <a:solidFill>
                  <a:srgbClr val="2B2626"/>
                </a:solidFill>
                <a:latin typeface="Open Sans"/>
              </a:rPr>
              <a:t>problem statement, requirements, actors, use cases + specifications, activity, sequence, communication, class and state diagrams, assumptions, constraints, business rules, glossary.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Why it matters: </a:t>
            </a:r>
            <a:r>
              <a:rPr sz="1600">
                <a:solidFill>
                  <a:srgbClr val="2B2626"/>
                </a:solidFill>
                <a:latin typeface="Open Sans"/>
              </a:rPr>
              <a:t>client, analyst, designer, programmer, tester and manager all need a common language.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Traceability: </a:t>
            </a:r>
            <a:r>
              <a:rPr sz="1600">
                <a:solidFill>
                  <a:srgbClr val="2B2626"/>
                </a:solidFill>
                <a:latin typeface="Open Sans"/>
              </a:rPr>
              <a:t>REQ-05 -&gt; UC-05 -&gt; activity model -&gt; sequence model -&gt; design -&gt; test cases.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Documentation creates traceability from requirement to test.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Confusions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Five distinctions to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 case vs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a goal vs the visual representation.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 case vs activity </a:t>
            </a:r>
            <a:r>
              <a:rPr sz="1600">
                <a:solidFill>
                  <a:srgbClr val="2B2626"/>
                </a:solidFill>
                <a:latin typeface="Open Sans"/>
              </a:rPr>
              <a:t>— what goal vs what workflow.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Activity vs sequence </a:t>
            </a:r>
            <a:r>
              <a:rPr sz="1600">
                <a:solidFill>
                  <a:srgbClr val="2B2626"/>
                </a:solidFill>
                <a:latin typeface="Open Sans"/>
              </a:rPr>
              <a:t>— workflow vs messages over time.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Sequence vs communication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time/order vs objects/links.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Actor vs class </a:t>
            </a:r>
            <a:r>
              <a:rPr sz="1600">
                <a:solidFill>
                  <a:srgbClr val="2B2626"/>
                </a:solidFill>
                <a:latin typeface="Open Sans"/>
              </a:rPr>
              <a:t>— external role vs a type inside the system.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These distinctions are examination favourites.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Practical Lab — Course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Five tasks, one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1. Use case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boundary, 4+ actors, 8+ use cases, include/extend/generalisation.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2. Specification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full document for Register Course.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3. Activity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decisions, alternatives, swimlanes.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4. Sequence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8+ messages: Student -&gt; UI -&gt; Controller -&gt; Database.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5. Communication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the same scenario, numbered messages.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Then compare the sequence and communication diagrams — what changed in emphasis?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8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essentials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8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 case </a:t>
            </a:r>
            <a:r>
              <a:rPr sz="1600">
                <a:solidFill>
                  <a:srgbClr val="2B2626"/>
                </a:solidFill>
                <a:latin typeface="Open Sans"/>
              </a:rPr>
              <a:t>— the actor's goal; the diagram shows actors, use cases and the boundary.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include / extend </a:t>
            </a:r>
            <a:r>
              <a:rPr sz="1600">
                <a:solidFill>
                  <a:srgbClr val="2B2626"/>
                </a:solidFill>
                <a:latin typeface="Open Sans"/>
              </a:rPr>
              <a:t>— required/reused vs conditional/additional behaviour.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Sequence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messages in time order.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Communication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objects and numbered messages.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Activity diagram </a:t>
            </a:r>
            <a:r>
              <a:rPr sz="1600">
                <a:solidFill>
                  <a:srgbClr val="2B2626"/>
                </a:solidFill>
                <a:latin typeface="Open Sans"/>
              </a:rPr>
              <a:t>— workflow with decisions, forks/joins and swimlanes.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Documentation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all models together, with traceability.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system is behaviours performed by users and objects working together to reach goals.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Model the ATM system: actors, use cases, include/extend, one specification, activity and sequence diagrams.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Practise include vs extend until the memory trick is automatic.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Draw sequence and communication diagrams for the same scenario and compare them.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The Unified Software Development Process (USDP/UP) — phases, workflows and artefacts.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