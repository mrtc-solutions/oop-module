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The Unified Software Development Process (USDP / Unified Process)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9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Define </a:t>
            </a:r>
            <a:r>
              <a:rPr sz="1600">
                <a:solidFill>
                  <a:srgbClr val="2B2626"/>
                </a:solidFill>
                <a:latin typeface="Open Sans"/>
              </a:rPr>
              <a:t>the Unified Process and explain why it suits OO development.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iterative vs incremental development.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the four characteristics (use-case driven, architecture-centred, iterative &amp; incremental, risk-driven).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600">
                <a:solidFill>
                  <a:srgbClr val="2B2626"/>
                </a:solidFill>
                <a:latin typeface="Open Sans"/>
              </a:rPr>
              <a:t>phase vs iteration; explain the four phases and milestones.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process workflows, artefacts and reuse guidelines.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concurrency, generalisation and inheritance.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Connect </a:t>
            </a:r>
            <a:r>
              <a:rPr sz="1600">
                <a:solidFill>
                  <a:srgbClr val="2B2626"/>
                </a:solidFill>
                <a:latin typeface="Open Sans"/>
              </a:rPr>
              <a:t>UP to the UML models already studied.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= how to model · UP = how to organise the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Where Week 9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modelling the system to organising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2</a:t>
            </a:r>
          </a:p>
        </p:txBody>
      </p:sp>
      <p:pic>
        <p:nvPicPr>
          <p:cNvPr id="9" name="Picture 8" descr="w9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UP is an iterative and incremental process for OO development using UML.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Why Software Needs a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Without it, everyone builds something different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3</a:t>
            </a:r>
          </a:p>
        </p:txBody>
      </p:sp>
      <p:pic>
        <p:nvPicPr>
          <p:cNvPr id="9" name="Picture 8" descr="w9_why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process tells the team WHAT work, WHEN, WHO does it, and WHAT to produce.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UP vs RUP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general framework vs a specific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4</a:t>
            </a:r>
          </a:p>
        </p:txBody>
      </p:sp>
      <p:pic>
        <p:nvPicPr>
          <p:cNvPr id="9" name="Picture 8" descr="w9_up_vs_r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528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UP = general framework · RUP = Rational's commercial implementation of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Waterfall vs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Separate stages vs repeated cycles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5</a:t>
            </a:r>
          </a:p>
        </p:txBody>
      </p:sp>
      <p:pic>
        <p:nvPicPr>
          <p:cNvPr id="9" name="Picture 8" descr="w9_waterfall_vs_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UP repeats the cycle — each iteration improves the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Iterative vs Incremental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Refine and improve vs add functionality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6</a:t>
            </a:r>
          </a:p>
        </p:txBody>
      </p:sp>
      <p:pic>
        <p:nvPicPr>
          <p:cNvPr id="9" name="Picture 8" descr="w9_iterative_increme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UP is BOTH iterative AND incremental — short, timeboxed iterations.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Incremental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Each increment adds usable 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7</a:t>
            </a:r>
          </a:p>
        </p:txBody>
      </p:sp>
      <p:pic>
        <p:nvPicPr>
          <p:cNvPr id="9" name="Picture 8" descr="w9_inc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Login -&gt; + registration -&gt; + assignment -&gt; +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Four Characteristics of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Use-case driven · architecture-centred · iterative &amp; incremental · risk-driven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8</a:t>
            </a:r>
          </a:p>
        </p:txBody>
      </p:sp>
      <p:pic>
        <p:nvPicPr>
          <p:cNvPr id="9" name="Picture 8" descr="w9_characte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Remember these four — they are a favourite examination question.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Use-Case 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use case threads through the whole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UC-01 Register Course </a:t>
            </a:r>
            <a:r>
              <a:rPr sz="1700">
                <a:solidFill>
                  <a:srgbClr val="2B2626"/>
                </a:solidFill>
                <a:latin typeface="Open Sans"/>
              </a:rPr>
              <a:t>drives the work: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Requirements: </a:t>
            </a:r>
            <a:r>
              <a:rPr sz="1700">
                <a:solidFill>
                  <a:srgbClr val="2B2626"/>
                </a:solidFill>
                <a:latin typeface="Open Sans"/>
              </a:rPr>
              <a:t>what should registration do?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Analysis: </a:t>
            </a:r>
            <a:r>
              <a:rPr sz="1700">
                <a:solidFill>
                  <a:srgbClr val="2B2626"/>
                </a:solidFill>
                <a:latin typeface="Open Sans"/>
              </a:rPr>
              <a:t>Student · Course · Registration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Design: </a:t>
            </a:r>
            <a:r>
              <a:rPr sz="1700">
                <a:solidFill>
                  <a:srgbClr val="2B2626"/>
                </a:solidFill>
                <a:latin typeface="Open Sans"/>
              </a:rPr>
              <a:t>RegistrationController · CourseService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Implementation: </a:t>
            </a:r>
            <a:r>
              <a:rPr sz="1700">
                <a:solidFill>
                  <a:srgbClr val="2B2626"/>
                </a:solidFill>
                <a:latin typeface="Open Sans"/>
              </a:rPr>
              <a:t>program the functionality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Testing: </a:t>
            </a:r>
            <a:r>
              <a:rPr sz="1700">
                <a:solidFill>
                  <a:srgbClr val="2B2626"/>
                </a:solidFill>
                <a:latin typeface="Open Sans"/>
              </a:rPr>
              <a:t>available · full · prerequisite missing · already registered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use case becomes a thread running through every activity.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Architecture-Centred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Validate the high-level design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10</a:t>
            </a:r>
          </a:p>
        </p:txBody>
      </p:sp>
      <p:pic>
        <p:nvPicPr>
          <p:cNvPr id="9" name="Picture 8" descr="w9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system for 100 students may collapse with 100,000 — test the architecture early.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Risk-Driven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Address significant risks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Common mistake: </a:t>
            </a:r>
            <a:r>
              <a:rPr sz="1700">
                <a:solidFill>
                  <a:srgbClr val="2B2626"/>
                </a:solidFill>
                <a:latin typeface="Open Sans"/>
              </a:rPr>
              <a:t>“Let's build the easiest things first.”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UP instead </a:t>
            </a:r>
            <a:r>
              <a:rPr sz="1700">
                <a:solidFill>
                  <a:srgbClr val="2B2626"/>
                </a:solidFill>
                <a:latin typeface="Open Sans"/>
              </a:rPr>
              <a:t>identifies and addresses significant risks early.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Risk types: </a:t>
            </a:r>
            <a:r>
              <a:rPr sz="1700">
                <a:solidFill>
                  <a:srgbClr val="2B2626"/>
                </a:solidFill>
                <a:latin typeface="Open Sans"/>
              </a:rPr>
              <a:t>technical · security · performance · financial · schedule · requirements · integration.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Example: </a:t>
            </a:r>
            <a:r>
              <a:rPr sz="1700">
                <a:solidFill>
                  <a:srgbClr val="2B2626"/>
                </a:solidFill>
                <a:latin typeface="Open Sans"/>
              </a:rPr>
              <a:t>“5,000 transactions per second” — test the architecture in an early iteration.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Attack the riskiest parts while there is still time to mitigate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Four UP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Inception -&gt; Elaboration -&gt; Construction -&gt; Transition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12</a:t>
            </a:r>
          </a:p>
        </p:txBody>
      </p:sp>
      <p:pic>
        <p:nvPicPr>
          <p:cNvPr id="9" name="Picture 8" descr="w9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phase is NOT a waterfall stage — each phase contains iterations.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Four Phases Compared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Each has its own question and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13</a:t>
            </a:r>
          </a:p>
        </p:txBody>
      </p:sp>
      <p:pic>
        <p:nvPicPr>
          <p:cNvPr id="9" name="Picture 8" descr="w9_phase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Inception = scope · Elaboration = architecture · Construction = build · Transition = deploy.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Phases Contain Iterations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makes UP different from 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14</a:t>
            </a:r>
          </a:p>
        </p:txBody>
      </p:sp>
      <p:pic>
        <p:nvPicPr>
          <p:cNvPr id="9" name="Picture 8" descr="w9_phases_it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Iterations deliver incremental value within each phase.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Go / no-go decision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End of Inception: </a:t>
            </a:r>
            <a:r>
              <a:rPr sz="1700">
                <a:solidFill>
                  <a:srgbClr val="2B2626"/>
                </a:solidFill>
                <a:latin typeface="Open Sans"/>
              </a:rPr>
              <a:t>Lifecycle Objectives Milestone — “do we understand enough to continue?”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End of Elaboration: </a:t>
            </a:r>
            <a:r>
              <a:rPr sz="1700">
                <a:solidFill>
                  <a:srgbClr val="2B2626"/>
                </a:solidFill>
                <a:latin typeface="Open Sans"/>
              </a:rPr>
              <a:t>Lifecycle Architecture Milestone — “can the architecture support the requirements?”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End of Construction: </a:t>
            </a:r>
            <a:r>
              <a:rPr sz="1700">
                <a:solidFill>
                  <a:srgbClr val="2B2626"/>
                </a:solidFill>
                <a:latin typeface="Open Sans"/>
              </a:rPr>
              <a:t>Initial Operational Capability — the system is ready for users.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End of Transition: </a:t>
            </a:r>
            <a:r>
              <a:rPr sz="1700">
                <a:solidFill>
                  <a:srgbClr val="2B2626"/>
                </a:solidFill>
                <a:latin typeface="Open Sans"/>
              </a:rPr>
              <a:t>Product Release — the system is in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If major risks remain unresolved, the project should not blindly continue.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Process Workflows / Disciplines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Core technical + supporting disciplines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16</a:t>
            </a:r>
          </a:p>
        </p:txBody>
      </p:sp>
      <p:pic>
        <p:nvPicPr>
          <p:cNvPr id="9" name="Picture 8" descr="w9_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Business Modeling · Requirements · Analysis &amp; Design · Implementation · Test · Deployment + 3 supporting.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Workflow Intensity Across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Disciplines overlap — they do not happen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17</a:t>
            </a:r>
          </a:p>
        </p:txBody>
      </p:sp>
      <p:pic>
        <p:nvPicPr>
          <p:cNvPr id="9" name="Picture 8" descr="w9_workflow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0770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Coding is heavy in Construction, but prototypes appear in Elaboration too.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Artefacts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Work products across the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18</a:t>
            </a:r>
          </a:p>
        </p:txBody>
      </p:sp>
      <p:pic>
        <p:nvPicPr>
          <p:cNvPr id="9" name="Picture 8" descr="w9_arte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 artefact is evidence of the team's work — the use-case model, code, tests…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Reuse in OO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Use existing assets — but evaluate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19</a:t>
            </a:r>
          </a:p>
        </p:txBody>
      </p:sp>
      <p:pic>
        <p:nvPicPr>
          <p:cNvPr id="9" name="Picture 8" descr="w9_re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0770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Reuse is not automatically good — check security, compatibility, licence, quality.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Generalisation vs 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Closely related, not identical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20</a:t>
            </a:r>
          </a:p>
        </p:txBody>
      </p:sp>
      <p:pic>
        <p:nvPicPr>
          <p:cNvPr id="9" name="Picture 8" descr="w9_gen_vs_inheri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Generalisation = modelling relationship · Inheritance = programming mechanism.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Concurrency — a Real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Two students, one remaining seat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21</a:t>
            </a:r>
          </a:p>
        </p:txBody>
      </p:sp>
      <p:pic>
        <p:nvPicPr>
          <p:cNvPr id="9" name="Picture 8" descr="w9_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Without synchronisation, two registrations succeed for one seat — concurrency matters.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Connecting UP to the UML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models become artefacts in the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Requirement -&gt; </a:t>
            </a:r>
            <a:r>
              <a:rPr sz="1600">
                <a:solidFill>
                  <a:srgbClr val="2B2626"/>
                </a:solidFill>
                <a:latin typeface="Open Sans"/>
              </a:rPr>
              <a:t>use case -&gt; use-case diagram -&gt; activity -&gt; sequence -&gt; class model -&gt; design -&gt; implementation.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/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UP provides </a:t>
            </a:r>
            <a:r>
              <a:rPr sz="1600">
                <a:solidFill>
                  <a:srgbClr val="2B2626"/>
                </a:solidFill>
                <a:latin typeface="Open Sans"/>
              </a:rPr>
              <a:t>the development process; UML provides the modelling languages used within it.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Case study: </a:t>
            </a:r>
            <a:r>
              <a:rPr sz="1600">
                <a:solidFill>
                  <a:srgbClr val="2B2626"/>
                </a:solidFill>
                <a:latin typeface="Open Sans"/>
              </a:rPr>
              <a:t>Mzuni Online Registration — Inception, Elaboration, Construction, Transition.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models of Weeks 4–8 do not exist in isolation — they are UP artefacts.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Common Misunderstandings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Avoid these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“UP is the same as Waterfall” </a:t>
            </a:r>
            <a:r>
              <a:rPr sz="1500">
                <a:solidFill>
                  <a:srgbClr val="2B2626"/>
                </a:solidFill>
                <a:latin typeface="Open Sans"/>
              </a:rPr>
              <a:t>— no: phases contain iterations.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“Inception collects every requirement” </a:t>
            </a:r>
            <a:r>
              <a:rPr sz="1500">
                <a:solidFill>
                  <a:srgbClr val="2B2626"/>
                </a:solidFill>
                <a:latin typeface="Open Sans"/>
              </a:rPr>
              <a:t>— no: scope + major requirements only.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“Coding only happens in Construction” </a:t>
            </a:r>
            <a:r>
              <a:rPr sz="1500">
                <a:solidFill>
                  <a:srgbClr val="2B2626"/>
                </a:solidFill>
                <a:latin typeface="Open Sans"/>
              </a:rPr>
              <a:t>— prototypes are coded in Elaboration.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“Testing starts after coding” </a:t>
            </a:r>
            <a:r>
              <a:rPr sz="1500">
                <a:solidFill>
                  <a:srgbClr val="2B2626"/>
                </a:solidFill>
                <a:latin typeface="Open Sans"/>
              </a:rPr>
              <a:t>— testing happens every iteration.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“Generalisation = inheritance” </a:t>
            </a:r>
            <a:r>
              <a:rPr sz="1500">
                <a:solidFill>
                  <a:srgbClr val="2B2626"/>
                </a:solidFill>
                <a:latin typeface="Open Sans"/>
              </a:rPr>
              <a:t>— closely related, but one is a relationship, the other a mechanism.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These five are classic traps in examination answers.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9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Five things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9 · Slide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1. </a:t>
            </a:r>
            <a:r>
              <a:rPr sz="1700">
                <a:solidFill>
                  <a:srgbClr val="2B2626"/>
                </a:solidFill>
                <a:latin typeface="Open Sans"/>
              </a:rPr>
              <a:t>UP is iterative and incremental.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2. </a:t>
            </a:r>
            <a:r>
              <a:rPr sz="1700">
                <a:solidFill>
                  <a:srgbClr val="2B2626"/>
                </a:solidFill>
                <a:latin typeface="Open Sans"/>
              </a:rPr>
              <a:t>UP is use-case driven.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3. </a:t>
            </a:r>
            <a:r>
              <a:rPr sz="1700">
                <a:solidFill>
                  <a:srgbClr val="2B2626"/>
                </a:solidFill>
                <a:latin typeface="Open Sans"/>
              </a:rPr>
              <a:t>UP is architecture-centred.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4. </a:t>
            </a:r>
            <a:r>
              <a:rPr sz="1700">
                <a:solidFill>
                  <a:srgbClr val="2B2626"/>
                </a:solidFill>
                <a:latin typeface="Open Sans"/>
              </a:rPr>
              <a:t>UP has four phases — Inception, Elaboration, Construction, Transition.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5. </a:t>
            </a:r>
            <a:r>
              <a:rPr sz="1700">
                <a:solidFill>
                  <a:srgbClr val="2B2626"/>
                </a:solidFill>
                <a:latin typeface="Open Sans"/>
              </a:rPr>
              <a:t>Phases contain iterations — that is what makes UP different from waterfall.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8 = what the system does · Week 9 = how to organise the work · Week 10+ = design.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Explain iterative vs incremental with a concrete example, then draw the four phases with iterations.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Compare UP against waterfall — list what changes for requirements, risk, delivery and documentation.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Map the Week 8 models onto UP phases and artefacts for the registration system.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Object-Oriented Design — turning the analysis into a software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